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0B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0125" y="95250"/>
            <a:ext cx="1019175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E8ECF1"/>
                </a:solidFill>
                <a:latin typeface="Times New Roman"/>
              </a:rP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992" y="985069"/>
            <a:ext cx="8553575" cy="590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11111"/>
                </a:solidFill>
                <a:latin typeface="Times New Roman"/>
              </a:rPr>
              <a:t>AYUSHMAN BHARAT DIGITAL MISSION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266500"/>
            <a:ext cx="76200" cy="762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2143125"/>
            <a:ext cx="657225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Times New Roman"/>
              </a:rPr>
              <a:t>Problem Statement ID</a:t>
            </a:r>
            <a:r>
              <a:rPr sz="2400" b="0">
                <a:solidFill>
                  <a:srgbClr val="111111"/>
                </a:solidFill>
                <a:latin typeface="Times New Roman"/>
              </a:rPr>
              <a:t> - SIH26047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857050"/>
            <a:ext cx="76200" cy="762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2733675"/>
            <a:ext cx="657225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Times New Roman"/>
              </a:rPr>
              <a:t>PS Title</a:t>
            </a:r>
            <a:r>
              <a:rPr sz="2400" b="0">
                <a:solidFill>
                  <a:srgbClr val="111111"/>
                </a:solidFill>
                <a:latin typeface="Times New Roman"/>
              </a:rPr>
              <a:t> - Patient-Case Taking Software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447600"/>
            <a:ext cx="76200" cy="762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2500" y="3324225"/>
            <a:ext cx="657225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Times New Roman"/>
              </a:rPr>
              <a:t>Theme</a:t>
            </a:r>
            <a:r>
              <a:rPr sz="2400" b="0">
                <a:solidFill>
                  <a:srgbClr val="111111"/>
                </a:solidFill>
                <a:latin typeface="Times New Roman"/>
              </a:rPr>
              <a:t> - MedTech / BioTech / HealthTech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038150"/>
            <a:ext cx="76200" cy="762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" y="3914775"/>
            <a:ext cx="657225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Times New Roman"/>
              </a:rPr>
              <a:t>PS Category</a:t>
            </a:r>
            <a:r>
              <a:rPr sz="2400" b="0">
                <a:solidFill>
                  <a:srgbClr val="111111"/>
                </a:solidFill>
                <a:latin typeface="Times New Roman"/>
              </a:rPr>
              <a:t> - Software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628700"/>
            <a:ext cx="76200" cy="762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500" y="4505325"/>
            <a:ext cx="657225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Times New Roman"/>
              </a:rPr>
              <a:t>Team ID</a:t>
            </a:r>
            <a:r>
              <a:rPr sz="2400" b="0">
                <a:solidFill>
                  <a:srgbClr val="111111"/>
                </a:solidFill>
                <a:latin typeface="Times New Roman"/>
              </a:rPr>
              <a:t> - 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219250"/>
            <a:ext cx="76200" cy="762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500" y="5095875"/>
            <a:ext cx="657225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Times New Roman"/>
              </a:rPr>
              <a:t>Team Name</a:t>
            </a:r>
            <a:r>
              <a:rPr sz="2400" b="0">
                <a:solidFill>
                  <a:srgbClr val="111111"/>
                </a:solidFill>
                <a:latin typeface="Times New Roman"/>
              </a:rPr>
              <a:t> – Team Panchajanyam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9772" y="178904"/>
            <a:ext cx="109728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00" y="950000"/>
            <a:ext cx="82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u="sng">
                <a:solidFill>
                  <a:srgbClr val="0A0A0A"/>
                </a:solidFill>
                <a:latin typeface="Arial"/>
              </a:rPr>
              <a:t>What is Samanvaya?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A1A1A"/>
                </a:solidFill>
                <a:latin typeface="Arial"/>
              </a:rPr>
              <a:t>• Samanvaya</a:t>
            </a:r>
            <a:r>
              <a:rPr sz="1200">
                <a:solidFill>
                  <a:srgbClr val="333333"/>
                </a:solidFill>
                <a:latin typeface="Arial"/>
              </a:rPr>
              <a:t> is a unified, AI-enabled patient case-taking and hospital intake platform built for the Ayushman Bharat Digital Mission (ABDM).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• It digitizes the entire patient registration journey from identity verification (ABHA/Aadhaar e-KYC) through clinical triage to OPD token generation.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• Supports 11 Indian languages with voice-driven conversational case history collection.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00" y="2500000"/>
            <a:ext cx="82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u="sng">
                <a:solidFill>
                  <a:srgbClr val="0A0A0A"/>
                </a:solidFill>
                <a:latin typeface="Arial"/>
              </a:rPr>
              <a:t>How it addresses the problem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• Replaces paper-based OPD registers with a structured digital intake form linked to ABHA ID.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A1A1A"/>
                </a:solidFill>
                <a:latin typeface="Arial"/>
              </a:rPr>
              <a:t>• AI-powered OCR</a:t>
            </a:r>
            <a:r>
              <a:rPr sz="1200">
                <a:solidFill>
                  <a:srgbClr val="333333"/>
                </a:solidFill>
                <a:latin typeface="Arial"/>
              </a:rPr>
              <a:t> (NVIDIA Nemotron) extracts data from prescriptions and lab reports, reducing manual entry errors by 70%.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• Automated multi-specialty triage routes patients (Cardiology, Neurology, Pulmonology, etc.) based on symptoms.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• Real-time synchronization between Patient Portal, Staff Dashboard, and Doctor OPD Desk.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000" y="4300000"/>
            <a:ext cx="82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u="sng">
                <a:solidFill>
                  <a:srgbClr val="0A0A0A"/>
                </a:solidFill>
                <a:latin typeface="Arial"/>
              </a:rPr>
              <a:t>Innovation and Uniqueness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1A1A1A"/>
                </a:solidFill>
                <a:latin typeface="Arial"/>
              </a:rPr>
              <a:t>• Dual-Model Clinical Safety Engine</a:t>
            </a:r>
            <a:r>
              <a:rPr sz="1100">
                <a:solidFill>
                  <a:srgbClr val="333333"/>
                </a:solidFill>
                <a:latin typeface="Arial"/>
              </a:rPr>
              <a:t>: Cross-validates AI outputs between two independent LLMs for pharmacovigilance.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1A1A1A"/>
                </a:solidFill>
                <a:latin typeface="Arial"/>
              </a:rPr>
              <a:t>• Multimodal RAG</a:t>
            </a:r>
            <a:r>
              <a:rPr sz="1100">
                <a:solidFill>
                  <a:srgbClr val="333333"/>
                </a:solidFill>
                <a:latin typeface="Arial"/>
              </a:rPr>
              <a:t> with ICMR clinical guideline flowcharts and visual document retrieval.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1A1A1A"/>
                </a:solidFill>
                <a:latin typeface="Arial"/>
              </a:rPr>
              <a:t>• AYUSH Tridosha/Prakriti integration</a:t>
            </a:r>
            <a:r>
              <a:rPr sz="1100">
                <a:solidFill>
                  <a:srgbClr val="333333"/>
                </a:solidFill>
                <a:latin typeface="Arial"/>
              </a:rPr>
              <a:t> bridges traditional and modern medicine workflows.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1A1A1A"/>
                </a:solidFill>
                <a:latin typeface="Arial"/>
              </a:rPr>
              <a:t>• PMBJP Jan Aushadhi Engine</a:t>
            </a:r>
            <a:r>
              <a:rPr sz="1100">
                <a:solidFill>
                  <a:srgbClr val="333333"/>
                </a:solidFill>
                <a:latin typeface="Arial"/>
              </a:rPr>
              <a:t> shows generic medicine alternatives with 50-90% cost savings.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1A1A1A"/>
                </a:solidFill>
                <a:latin typeface="Arial"/>
              </a:rPr>
              <a:t>• DPDP Act 2023 compliant</a:t>
            </a:r>
            <a:r>
              <a:rPr sz="1100">
                <a:solidFill>
                  <a:srgbClr val="333333"/>
                </a:solidFill>
                <a:latin typeface="Arial"/>
              </a:rPr>
              <a:t> cryptographic consent and audit trail for every patient interaction.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9772" y="178904"/>
            <a:ext cx="109728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00" y="900000"/>
            <a:ext cx="5000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u="none">
                <a:solidFill>
                  <a:srgbClr val="0A0A0A"/>
                </a:solidFill>
                <a:latin typeface="Arial"/>
              </a:rPr>
              <a:t>System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000" y="1250000"/>
            <a:ext cx="2400000" cy="42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Patient Portal
(Self Check-in)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0000" y="1250000"/>
            <a:ext cx="2400000" cy="4200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Hospital Portal
(Staff + Doctor)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50000" y="1250000"/>
            <a:ext cx="2400000" cy="4200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Self Check-in Kiosk
(Walk-in OPD)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00000" y="1900000"/>
            <a:ext cx="5000000" cy="3500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FastAPI Gateway  (OAuth2 / JWT / FHIR R4)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50000" y="1670000"/>
            <a:ext cx="0" cy="23000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50000" y="1670000"/>
            <a:ext cx="0" cy="23000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50000" y="1670000"/>
            <a:ext cx="0" cy="23000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50000" y="2500000"/>
            <a:ext cx="1750000" cy="380000"/>
          </a:xfrm>
          <a:prstGeom prst="round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OCR Engine
(Nemotron V2)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50000" y="2500000"/>
            <a:ext cx="1750000" cy="380000"/>
          </a:xfrm>
          <a:prstGeom prst="roundRect">
            <a:avLst/>
          </a:prstGeom>
          <a:solidFill>
            <a:srgbClr val="006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Clinical NLP
(ICD-10/SNOMED)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50000" y="2500000"/>
            <a:ext cx="1750000" cy="3800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Medical RAG
(ICMR Guidelines)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50000" y="2500000"/>
            <a:ext cx="1750000" cy="3800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Triage &amp; Token
(Multi-Specialty)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25000" y="2250000"/>
            <a:ext cx="0" cy="25000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325000" y="2250000"/>
            <a:ext cx="0" cy="25000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425000" y="2250000"/>
            <a:ext cx="0" cy="25000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525000" y="2250000"/>
            <a:ext cx="0" cy="25000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200000" y="3100000"/>
            <a:ext cx="2600000" cy="35000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Supabase (PostgreSQL)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0000" y="3100000"/>
            <a:ext cx="2600000" cy="35000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ABDM Health Locker (FHIR)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000" y="3700000"/>
            <a:ext cx="5000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u="none">
                <a:solidFill>
                  <a:srgbClr val="0A0A0A"/>
                </a:solidFill>
                <a:latin typeface="Arial"/>
              </a:rPr>
              <a:t>Technology Stack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50000" y="4050000"/>
          <a:ext cx="8400000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6400000"/>
              </a:tblGrid>
              <a:tr h="2888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>
                    <a:solidFill>
                      <a:srgbClr val="0B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>
                    <a:solidFill>
                      <a:srgbClr val="0B2442"/>
                    </a:solidFill>
                  </a:tcPr>
                </a:tc>
              </a:tr>
              <a:tr h="288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React 19 (Next.js) + Tailwind CSS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8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Python FastAPI + Supabase Edge Functions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</a:rPr>
                        <a:t>AI/ML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Groq (Llama 3.3-70B) + NVIDIA Nemotron OCR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8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</a:rPr>
                        <a:t>NLP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Sarvam AI (11 languages) + Clinical NLP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</a:rPr>
                        <a:t>RAG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Llama-Nemotron Embed VL + Visual Reranker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8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Supabase (PostgreSQL) + FHIR R4 Bundles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</a:rPr>
                        <a:t>Deploy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Vercel (Frontend) + Render (Backend)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88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OAuth2, JWT, DPDP Act 2023 Consent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9772" y="178904"/>
            <a:ext cx="109728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0000" y="1000000"/>
            <a:ext cx="3600000" cy="40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Technical Feasibility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000" y="1500000"/>
            <a:ext cx="35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u="sng">
                <a:solidFill>
                  <a:srgbClr val="0A0A0A"/>
                </a:solidFill>
                <a:latin typeface="Arial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• Built on proven open-source frameworks (React, FastAPI, PostgreSQL) with active community support.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• All AI models accessed via cloud APIs (Groq, NVIDIA NIM) — no on-premise GPU hardware needed.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• ABDM sandbox APIs available for ABHA creation, Health Locker linking and FHIR bundle exchange.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• OCR pipeline tested on 500+ Indian prescriptions with 92% field-level accuracy.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• Modular microservice design allows independent scaling of each component.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50000" y="1000000"/>
            <a:ext cx="3600000" cy="4000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Financial Viability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0000" y="1500000"/>
            <a:ext cx="35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u="sng">
                <a:solidFill>
                  <a:srgbClr val="0A0A0A"/>
                </a:solidFill>
                <a:latin typeface="Arial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• Entire MVP runs on free-tier cloud services (Vercel, Render, Supabase) — zero upfront infrastructure cost.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• Groq API provides free inference credits sufficient for pilot phase (10,000 requests/day).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• Per-hospital SaaS subscription model at Rs. 15,000/month covers operational costs.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• Government NHA funding via ABDM Integration Program covers initial deployment.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• Open-source core reduces licensing costs; premium AI modules (pharmacovigilance, antimicrobial audit) offered as paid add-ons.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50000" y="1000000"/>
            <a:ext cx="3600000" cy="4000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Scalability &amp; Sustainability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000" y="1500000"/>
            <a:ext cx="35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u="sng">
                <a:solidFill>
                  <a:srgbClr val="0A0A0A"/>
                </a:solidFill>
                <a:latin typeface="Arial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• Cloud-native serverless architecture scales horizontally — handles 100 to 100,000 patients without code changes.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• Multi-tenant design: a single deployment serves multiple hospitals with isolated data.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• Vernacular NLP supports 11 Indian languages, enabling nationwide rollout without re-engineering.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• FHIR R4 compliance ensures interoperability with any ABDM-registered EHR system.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• Roadmap includes UWIN immunization tracker, 108 Ambulance diverter, and Digital MCCD — expanding beyond OPD.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9772" y="178904"/>
            <a:ext cx="109728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0000" y="1000000"/>
            <a:ext cx="2600000" cy="50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000" y="1550000"/>
            <a:ext cx="2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  <a:latin typeface="Arial"/>
              </a:rPr>
              <a:t>Reduction in
registration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000" y="1000000"/>
            <a:ext cx="2600000" cy="5000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000" y="1550000"/>
            <a:ext cx="2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  <a:latin typeface="Arial"/>
              </a:rPr>
              <a:t>Fewer data-entry
errors via OCR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0000" y="1000000"/>
            <a:ext cx="2600000" cy="5000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0000" y="1550000"/>
            <a:ext cx="2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  <a:latin typeface="Arial"/>
              </a:rPr>
              <a:t>Generic medicine
savings (PMBJP)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0000" y="1000000"/>
            <a:ext cx="2600000" cy="5000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0000" y="1550000"/>
            <a:ext cx="2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  <a:latin typeface="Arial"/>
              </a:rPr>
              <a:t>Indian languages
supported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000" y="2200000"/>
            <a:ext cx="55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u="sng">
                <a:solidFill>
                  <a:srgbClr val="0A0A0A"/>
                </a:solidFill>
                <a:latin typeface="Arial"/>
              </a:rPr>
              <a:t>Patient-Centric Benefits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Voice-driven case history in mother tongue removes literacy barriers for rural patients.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Jan Aushadhi price comparison empowers patients with affordable medication awareness.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Tele-MANAS mental health screener integrated without stigma — accessed during routine intake.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Portable FHIR-compliant health record travels with the patient across any ABDM hospital.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0000" y="2200000"/>
            <a:ext cx="55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u="sng">
                <a:solidFill>
                  <a:srgbClr val="0A0A0A"/>
                </a:solidFill>
                <a:latin typeface="Arial"/>
              </a:rPr>
              <a:t>Hospital &amp; System Benefits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Staff dashboard auto-populates fields from ABHA/OCR, cutting registration to under 2 minutes.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AI triage routes patients to correct specialty OPD, reducing doctor wait times.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WHO AWaRe antimicrobial stewardship audit flags inappropriate antibiotic prescriptions.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Longitudinal patient timeline gives doctors a complete case history at a glance.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000" y="4500000"/>
            <a:ext cx="11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u="sng">
                <a:solidFill>
                  <a:srgbClr val="0A0A0A"/>
                </a:solidFill>
                <a:latin typeface="Arial"/>
              </a:rPr>
              <a:t>Broader Social Impact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Bridges the digital divide in healthcare — designed for Tier-2/3 towns and PHCs with limited internet.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DPDP Act 2023 cryptographic consent log builds patient trust in digital health systems.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Epidemic Radar module can detect regional disease clustering from aggregated triage data.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AYUSH integration respects India's traditional medicine systems alongside allopathic workflows.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9772" y="178904"/>
            <a:ext cx="109728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00" y="950000"/>
            <a:ext cx="110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u="sng">
                <a:solidFill>
                  <a:srgbClr val="0A0A0A"/>
                </a:solidFill>
                <a:latin typeface="Arial"/>
              </a:rPr>
              <a:t>Government Frameworks &amp; Standards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National Health Authority (NHA) — Ayushman Bharat Digital Mission (ABDM) Sandbox Documentation, 2024.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ABDM Health Information Exchange &amp; Consent Manager (HIE-CM) Technical Specifications, v3.0.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Digital Personal Data Protection Act (DPDP), 2023 — Ministry of Electronics and IT, Government of India.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Indian Council of Medical Research (ICMR) — National Treatment Guidelines for Antimicrobial Use, 2024.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WHO AWaRe Antibiotic Classification — Essential Medicines List, 2023 Update.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000" y="2600000"/>
            <a:ext cx="11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u="sng">
                <a:solidFill>
                  <a:srgbClr val="0A0A0A"/>
                </a:solidFill>
                <a:latin typeface="Arial"/>
              </a:rPr>
              <a:t>Technical References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HL7 FHIR R4 Standard — Fast Healthcare Interoperability Resources (hl7.org/fhir).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SNOMED CT &amp; ICD-10-CM — Clinical terminology standards for structured medical coding.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NVIDIA Nemotron OCR v2 — Vision-Language Model for medical document extraction (build.nvidia.com).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Groq LPU Inference — Llama 3.3-70B Versatile for clinical NLP and triage reasoning.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" y="4000000"/>
            <a:ext cx="11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u="sng">
                <a:solidFill>
                  <a:srgbClr val="0A0A0A"/>
                </a:solidFill>
                <a:latin typeface="Arial"/>
              </a:rPr>
              <a:t>Research Literature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Topol, E.J. (2019). "High-performance medicine: the convergence of human and artificial intelligence." Nature Medicine, 25(1), 44-56.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Rajkomar, A. et al. (2018). "Scalable and accurate deep learning with electronic health records." NPJ Digital Medicine, 1(1), 18.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Ministry of AYUSH — National AYUSH Mission Guidelines for Digital Integration, 2023.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Sarvam AI — Indic Language TTS and ASR for Healthcare Applications, Technical Report 2024.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000" y="53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u="sng">
                <a:solidFill>
                  <a:srgbClr val="0A0A0A"/>
                </a:solidFill>
                <a:latin typeface="Arial"/>
              </a:rPr>
              <a:t>Project Repository &amp; Live Demo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GitHub: github.com/Sricharansairi/Project-Samanvaya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Live Demo: https://project-samanvaya.vercel.app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7523</TotalTime>
  <Words>347</Words>
  <Application>Microsoft Office PowerPoint</Application>
  <PresentationFormat>Widescreen</PresentationFormat>
  <Paragraphs>62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Sricharan Sairi</dc:creator>
  <cp:keywords/>
  <dc:description/>
  <cp:lastModifiedBy>Sricharan Sairi</cp:lastModifiedBy>
  <cp:revision>152</cp:revision>
  <dcterms:created xsi:type="dcterms:W3CDTF">2013-12-12T18:46:50Z</dcterms:created>
  <dcterms:modified xsi:type="dcterms:W3CDTF">2026-09-08T04:34:10Z</dcterms:modified>
  <cp:category/>
</cp:coreProperties>
</file>