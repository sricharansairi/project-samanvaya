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98" r:id="rId3"/>
    <p:sldId id="290" r:id="rId4"/>
    <p:sldId id="293" r:id="rId5"/>
    <p:sldId id="294" r:id="rId6"/>
    <p:sldId id="300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C77029"/>
    <a:srgbClr val="8BA459"/>
    <a:srgbClr val="D08649"/>
    <a:srgbClr val="6F8E30"/>
    <a:srgbClr val="FFD629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23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isha-sih-2026.web.app/" TargetMode="Externa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microsoft.com/office/2007/relationships/hdphoto" Target="../media/hdphoto1.wdp"/><Relationship Id="rId10" Type="http://schemas.openxmlformats.org/officeDocument/2006/relationships/image" Target="../media/image9.jpe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1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google.com/scholar?q=Awareness+of+Government+Schemes+among+MSME+Entrepreneurs" TargetMode="External"/><Relationship Id="rId3" Type="http://schemas.openxmlformats.org/officeDocument/2006/relationships/hyperlink" Target="https://udyamregistration.gov.in/" TargetMode="External"/><Relationship Id="rId7" Type="http://schemas.openxmlformats.org/officeDocument/2006/relationships/hyperlink" Target="https://scholar.google.com/scholar?q=Government+Policies+and+MSME+Growth+in+Indi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kviconline.gov.in/pmegpeportal/pmegphome/index.jsp" TargetMode="External"/><Relationship Id="rId4" Type="http://schemas.openxmlformats.org/officeDocument/2006/relationships/hyperlink" Target="https://aspire.msme.gov.in/ASPIRE/AFHome.aspx" TargetMode="External"/><Relationship Id="rId9" Type="http://schemas.openxmlformats.org/officeDocument/2006/relationships/hyperlink" Target="https://scholar.google.com/scholar?q=PMEGP+and+Entrepreneurship+Development+in+Ind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5205-C7BF-69AD-7BA9-4BDF2AAF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30F5E3-4179-8682-A51A-8EA01BCBF8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57531" y="172604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644CBDFC-85C9-3BFD-094F-1B7B3F231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86" y="851521"/>
            <a:ext cx="8534400" cy="101261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DISHA-AI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</a:rPr>
              <a:t>From a business idea to a clearer local and financial roadmap.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B39F2EB-2DA0-9F23-E8B2-5B783768D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8A497-2FEE-A5F1-B266-DA1EDFF0F533}"/>
              </a:ext>
            </a:extLst>
          </p:cNvPr>
          <p:cNvSpPr txBox="1"/>
          <p:nvPr/>
        </p:nvSpPr>
        <p:spPr>
          <a:xfrm>
            <a:off x="341446" y="1639570"/>
            <a:ext cx="6523605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SIH26091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AI-Driven Local Business Advisory and Financial Structuring Assistant for Rural Micro-Entrepreneurs.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AI, ML, FinTech,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Architects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78FA76-7F19-CD14-3ED7-54A48282F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D5E201-DE76-E6B9-AE55-42333213A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86F88E7-25E4-8434-4BBC-B9C8882D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8B69A-9B40-9CC4-DE06-697DF0A9D4F3}"/>
              </a:ext>
            </a:extLst>
          </p:cNvPr>
          <p:cNvSpPr txBox="1"/>
          <p:nvPr/>
        </p:nvSpPr>
        <p:spPr>
          <a:xfrm>
            <a:off x="11341671" y="639852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77C3CE7-23F7-4828-823C-E0205DF2CF97}" type="slidenum">
              <a:rPr lang="en-US" sz="1200" b="1" smtClean="0">
                <a:solidFill>
                  <a:schemeClr val="bg1"/>
                </a:solidFill>
              </a:rPr>
              <a:pPr/>
              <a:t>1</a:t>
            </a:fld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79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E5C84F-919B-75B1-3233-91C9562EF391}"/>
              </a:ext>
            </a:extLst>
          </p:cNvPr>
          <p:cNvSpPr/>
          <p:nvPr/>
        </p:nvSpPr>
        <p:spPr>
          <a:xfrm>
            <a:off x="309452" y="4267200"/>
            <a:ext cx="8407828" cy="149957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582C3F-3741-B581-39D9-22E1F11B2FA9}"/>
              </a:ext>
            </a:extLst>
          </p:cNvPr>
          <p:cNvSpPr/>
          <p:nvPr/>
        </p:nvSpPr>
        <p:spPr>
          <a:xfrm>
            <a:off x="329772" y="2385459"/>
            <a:ext cx="8407828" cy="174521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63F5C2-F1C9-1BCD-E39D-AD0AFBEE408D}"/>
              </a:ext>
            </a:extLst>
          </p:cNvPr>
          <p:cNvSpPr/>
          <p:nvPr/>
        </p:nvSpPr>
        <p:spPr>
          <a:xfrm>
            <a:off x="329772" y="1252619"/>
            <a:ext cx="8255377" cy="1043541"/>
          </a:xfrm>
          <a:prstGeom prst="roundRect">
            <a:avLst>
              <a:gd name="adj" fmla="val 1861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2" y="17890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57768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Architects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0092" y="1242459"/>
            <a:ext cx="85359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</a:t>
            </a:r>
            <a:r>
              <a:rPr lang="en-IN" b="1" u="sng" dirty="0"/>
              <a:t>What is DISHA?</a:t>
            </a:r>
          </a:p>
          <a:p>
            <a:r>
              <a:rPr lang="en-IN" dirty="0"/>
              <a:t>DISHA is an </a:t>
            </a:r>
            <a:r>
              <a:rPr lang="en-IN" b="1" dirty="0"/>
              <a:t>AI-powered business advisory application</a:t>
            </a:r>
            <a:r>
              <a:rPr lang="en-IN" dirty="0"/>
              <a:t> designed to help aspiring and existing entrepreneurs make informed business decisions.</a:t>
            </a:r>
          </a:p>
          <a:p>
            <a:endParaRPr lang="en-IN" dirty="0"/>
          </a:p>
          <a:p>
            <a:r>
              <a:rPr lang="en-IN" b="1" dirty="0"/>
              <a:t>                                                    </a:t>
            </a:r>
            <a:r>
              <a:rPr lang="en-IN" b="1" u="sng" dirty="0"/>
              <a:t>How it addresses the problem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personalized business guidance based on user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Recommends relevant </a:t>
            </a:r>
            <a:r>
              <a:rPr lang="en-IN" b="1" dirty="0"/>
              <a:t>government schemes, loans, subsidies, and support programs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Checks basic eligibility based on user and business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Simplifies complex government and business information using AI.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guidance through a simple and user-friendly conversational interface. </a:t>
            </a:r>
          </a:p>
          <a:p>
            <a:endParaRPr lang="en-IN" b="1" dirty="0"/>
          </a:p>
          <a:p>
            <a:r>
              <a:rPr lang="en-IN" b="1" dirty="0"/>
              <a:t>                                                        </a:t>
            </a:r>
            <a:r>
              <a:rPr lang="en-IN" b="1" u="sng" dirty="0"/>
              <a:t>Innovation and Uniqueness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Combines </a:t>
            </a:r>
            <a:r>
              <a:rPr lang="en-IN" b="1" dirty="0"/>
              <a:t>AI business advisory + scheme recommendation</a:t>
            </a:r>
            <a:r>
              <a:rPr lang="en-IN" dirty="0"/>
              <a:t> in one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personalized recommendations instead of generic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Makes business and government support information easier to understand.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Can support </a:t>
            </a:r>
            <a:r>
              <a:rPr lang="en-IN" b="1" dirty="0"/>
              <a:t>multilingual interaction</a:t>
            </a:r>
            <a:r>
              <a:rPr lang="en-IN" dirty="0"/>
              <a:t> for improved accessibility.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5752C-113F-D52A-318B-5A9766DB1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513" y="1402759"/>
            <a:ext cx="2097167" cy="3817369"/>
          </a:xfrm>
          <a:prstGeom prst="roundRect">
            <a:avLst>
              <a:gd name="adj" fmla="val 16667"/>
            </a:avLst>
          </a:prstGeom>
          <a:ln w="28575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D0D932-E66C-2F44-B1CF-C040390F3CD6}"/>
              </a:ext>
            </a:extLst>
          </p:cNvPr>
          <p:cNvSpPr txBox="1"/>
          <p:nvPr/>
        </p:nvSpPr>
        <p:spPr>
          <a:xfrm>
            <a:off x="4114800" y="5891363"/>
            <a:ext cx="4209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Web Link: </a:t>
            </a:r>
            <a:r>
              <a:rPr lang="en-IN" u="sng" dirty="0">
                <a:hlinkClick r:id="rId5"/>
              </a:rPr>
              <a:t>https://disha-sih-2026.web.app/</a:t>
            </a:r>
            <a:endParaRPr lang="en-IN" u="sng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8101557-2D2D-C9D0-DA80-64342108B2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26128"/>
            <a:ext cx="157768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Architects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2887174" y="82011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4C44"/>
                </a:solidFill>
                <a:latin typeface="Aptos"/>
              </a:defRPr>
            </a:pPr>
            <a:r>
              <a:rPr dirty="0"/>
              <a:t>A simple journey from business idea to action plan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58140" y="1307591"/>
            <a:ext cx="502920" cy="502920"/>
          </a:xfrm>
          <a:prstGeom prst="ellipse">
            <a:avLst/>
          </a:prstGeom>
          <a:solidFill>
            <a:srgbClr val="104C44"/>
          </a:solidFill>
          <a:ln>
            <a:solidFill>
              <a:srgbClr val="104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72440" y="142086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23566" y="141027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62A"/>
                </a:solidFill>
                <a:latin typeface="Aptos"/>
              </a:defRPr>
            </a:pPr>
            <a:r>
              <a:rPr dirty="0"/>
              <a:t>Business details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2754221" y="1394697"/>
            <a:ext cx="502920" cy="502920"/>
          </a:xfrm>
          <a:prstGeom prst="ellipse">
            <a:avLst/>
          </a:prstGeom>
          <a:solidFill>
            <a:srgbClr val="104C44"/>
          </a:solidFill>
          <a:ln>
            <a:solidFill>
              <a:srgbClr val="104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17" name="TextBox 17416"/>
          <p:cNvSpPr txBox="1"/>
          <p:nvPr/>
        </p:nvSpPr>
        <p:spPr>
          <a:xfrm>
            <a:off x="2858639" y="151108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52451" y="1448821"/>
            <a:ext cx="1540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62A"/>
                </a:solidFill>
                <a:latin typeface="Aptos"/>
              </a:defRPr>
            </a:pPr>
            <a:r>
              <a:rPr lang="en-IN" dirty="0"/>
              <a:t>Workflow</a:t>
            </a:r>
            <a:endParaRPr dirty="0"/>
          </a:p>
        </p:txBody>
      </p:sp>
      <p:sp>
        <p:nvSpPr>
          <p:cNvPr id="17423" name="TextBox 17422"/>
          <p:cNvSpPr txBox="1"/>
          <p:nvPr/>
        </p:nvSpPr>
        <p:spPr>
          <a:xfrm>
            <a:off x="5616911" y="148461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62A"/>
                </a:solidFill>
                <a:latin typeface="Aptos"/>
              </a:defRPr>
            </a:pPr>
            <a:r>
              <a:rPr dirty="0"/>
              <a:t>AI business insights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7576529" y="1433131"/>
            <a:ext cx="502920" cy="502920"/>
          </a:xfrm>
          <a:prstGeom prst="ellipse">
            <a:avLst/>
          </a:prstGeom>
          <a:solidFill>
            <a:srgbClr val="104C44"/>
          </a:solidFill>
          <a:ln>
            <a:solidFill>
              <a:srgbClr val="104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670471" y="152464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038733" y="154095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62A"/>
                </a:solidFill>
                <a:latin typeface="Aptos"/>
              </a:defRPr>
            </a:pPr>
            <a:r>
              <a:rPr dirty="0"/>
              <a:t>Financial evaluation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38912" y="493318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25359C-6C4C-6CD5-6890-D24DF8A84E42}"/>
              </a:ext>
            </a:extLst>
          </p:cNvPr>
          <p:cNvCxnSpPr>
            <a:cxnSpLocks/>
          </p:cNvCxnSpPr>
          <p:nvPr/>
        </p:nvCxnSpPr>
        <p:spPr>
          <a:xfrm>
            <a:off x="2355078" y="5062075"/>
            <a:ext cx="8787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8D6A0A-A9E8-3151-25AB-45E29550D409}"/>
              </a:ext>
            </a:extLst>
          </p:cNvPr>
          <p:cNvCxnSpPr>
            <a:cxnSpLocks/>
          </p:cNvCxnSpPr>
          <p:nvPr/>
        </p:nvCxnSpPr>
        <p:spPr>
          <a:xfrm flipV="1">
            <a:off x="4509135" y="2883004"/>
            <a:ext cx="1038061" cy="6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ChatGPT Image Aug 31, 2026, 07_59_47 PM.png">
            <a:extLst>
              <a:ext uri="{FF2B5EF4-FFF2-40B4-BE49-F238E27FC236}">
                <a16:creationId xmlns:a16="http://schemas.microsoft.com/office/drawing/2014/main" id="{F818CC3A-5CEE-16AA-DBE1-181F4120621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7000"/>
                    </a14:imgEffect>
                    <a14:imgEffect>
                      <a14:saturation sat="4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 l="358" t="1298" r="84654" b="43507"/>
          <a:stretch>
            <a:fillRect/>
          </a:stretch>
        </p:blipFill>
        <p:spPr>
          <a:xfrm>
            <a:off x="1012512" y="1678458"/>
            <a:ext cx="1354623" cy="2194924"/>
          </a:xfrm>
          <a:prstGeom prst="snip1Rect">
            <a:avLst>
              <a:gd name="adj" fmla="val 0"/>
            </a:avLst>
          </a:prstGeom>
        </p:spPr>
      </p:pic>
      <p:pic>
        <p:nvPicPr>
          <p:cNvPr id="21" name="Picture 20" descr="ChatGPT Image Aug 31, 2026, 07_59_47 PM.png">
            <a:extLst>
              <a:ext uri="{FF2B5EF4-FFF2-40B4-BE49-F238E27FC236}">
                <a16:creationId xmlns:a16="http://schemas.microsoft.com/office/drawing/2014/main" id="{5430EF5C-1D8A-6119-E11B-90C596CC762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80000"/>
                    </a14:imgEffect>
                    <a14:imgEffect>
                      <a14:saturation sat="400000"/>
                    </a14:imgEffect>
                    <a14:imgEffect>
                      <a14:brightnessContrast bright="5000" contrast="100000"/>
                    </a14:imgEffect>
                  </a14:imgLayer>
                </a14:imgProps>
              </a:ext>
            </a:extLst>
          </a:blip>
          <a:srcRect l="34265" t="2513" r="52109" b="42292"/>
          <a:stretch>
            <a:fillRect/>
          </a:stretch>
        </p:blipFill>
        <p:spPr>
          <a:xfrm>
            <a:off x="3267617" y="1710139"/>
            <a:ext cx="1251351" cy="2230145"/>
          </a:xfrm>
          <a:prstGeom prst="snip1Rect">
            <a:avLst>
              <a:gd name="adj" fmla="val 0"/>
            </a:avLst>
          </a:prstGeom>
        </p:spPr>
      </p:pic>
      <p:pic>
        <p:nvPicPr>
          <p:cNvPr id="23" name="Picture 22" descr="ChatGPT Image Aug 31, 2026, 07_59_47 PM.png">
            <a:extLst>
              <a:ext uri="{FF2B5EF4-FFF2-40B4-BE49-F238E27FC236}">
                <a16:creationId xmlns:a16="http://schemas.microsoft.com/office/drawing/2014/main" id="{C06A01CF-B1ED-7AF3-A2ED-BCB574EEC09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50596" t="4777" r="34806" b="40028"/>
          <a:stretch>
            <a:fillRect/>
          </a:stretch>
        </p:blipFill>
        <p:spPr>
          <a:xfrm>
            <a:off x="5641482" y="1819417"/>
            <a:ext cx="1353600" cy="2251651"/>
          </a:xfrm>
          <a:prstGeom prst="snip1Rect">
            <a:avLst>
              <a:gd name="adj" fmla="val 0"/>
            </a:avLst>
          </a:prstGeom>
        </p:spPr>
      </p:pic>
      <p:pic>
        <p:nvPicPr>
          <p:cNvPr id="24" name="Picture 23" descr="ChatGPT Image Aug 31, 2026, 07_59_47 PM.png">
            <a:extLst>
              <a:ext uri="{FF2B5EF4-FFF2-40B4-BE49-F238E27FC236}">
                <a16:creationId xmlns:a16="http://schemas.microsoft.com/office/drawing/2014/main" id="{07EA7980-A8C8-B3B5-B453-AFB197B3533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saturation sat="400000"/>
                    </a14:imgEffect>
                    <a14:imgEffect>
                      <a14:brightnessContrast bright="-1000" contrast="100000"/>
                    </a14:imgEffect>
                  </a14:imgLayer>
                </a14:imgProps>
              </a:ext>
            </a:extLst>
          </a:blip>
          <a:srcRect l="68974" t="3777" r="15737" b="41028"/>
          <a:stretch>
            <a:fillRect/>
          </a:stretch>
        </p:blipFill>
        <p:spPr>
          <a:xfrm>
            <a:off x="8038733" y="1863039"/>
            <a:ext cx="1344175" cy="2135038"/>
          </a:xfrm>
          <a:prstGeom prst="snip1Rect">
            <a:avLst>
              <a:gd name="adj" fmla="val 0"/>
            </a:avLst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58D3BD7-ADB5-132F-DA01-D1C0331BDCD9}"/>
              </a:ext>
            </a:extLst>
          </p:cNvPr>
          <p:cNvSpPr/>
          <p:nvPr/>
        </p:nvSpPr>
        <p:spPr>
          <a:xfrm>
            <a:off x="8136255" y="2041823"/>
            <a:ext cx="45719" cy="60960"/>
          </a:xfrm>
          <a:prstGeom prst="roundRect">
            <a:avLst/>
          </a:prstGeom>
          <a:solidFill>
            <a:srgbClr val="6F8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AA9620-87EE-8306-19E5-23BB2A8DD820}"/>
              </a:ext>
            </a:extLst>
          </p:cNvPr>
          <p:cNvSpPr/>
          <p:nvPr/>
        </p:nvSpPr>
        <p:spPr>
          <a:xfrm>
            <a:off x="5942013" y="1913994"/>
            <a:ext cx="45719" cy="70970"/>
          </a:xfrm>
          <a:prstGeom prst="rect">
            <a:avLst/>
          </a:prstGeom>
          <a:solidFill>
            <a:srgbClr val="8BA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00F57C-1952-CE55-A0D5-53BBC1B42E4C}"/>
              </a:ext>
            </a:extLst>
          </p:cNvPr>
          <p:cNvSpPr/>
          <p:nvPr/>
        </p:nvSpPr>
        <p:spPr>
          <a:xfrm>
            <a:off x="3531680" y="1906523"/>
            <a:ext cx="62865" cy="59055"/>
          </a:xfrm>
          <a:prstGeom prst="rect">
            <a:avLst/>
          </a:prstGeom>
          <a:solidFill>
            <a:srgbClr val="C77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93AAA0C-D3F4-1A43-FD8A-0AC4B9FFD3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230" y="3908038"/>
            <a:ext cx="1319379" cy="2412068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40B054-FEA3-ADC4-BD07-E67A27283963}"/>
              </a:ext>
            </a:extLst>
          </p:cNvPr>
          <p:cNvCxnSpPr>
            <a:cxnSpLocks/>
          </p:cNvCxnSpPr>
          <p:nvPr/>
        </p:nvCxnSpPr>
        <p:spPr>
          <a:xfrm>
            <a:off x="6988137" y="2891261"/>
            <a:ext cx="1011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74F86C-49D2-7A39-E141-E2EBEB9575BE}"/>
              </a:ext>
            </a:extLst>
          </p:cNvPr>
          <p:cNvCxnSpPr>
            <a:cxnSpLocks/>
          </p:cNvCxnSpPr>
          <p:nvPr/>
        </p:nvCxnSpPr>
        <p:spPr>
          <a:xfrm>
            <a:off x="6109344" y="5062075"/>
            <a:ext cx="19190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533358AE-D90A-BECD-6CA6-B6CEB6B546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2580" y="3961864"/>
            <a:ext cx="1313870" cy="2386144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4E007E-7295-0D96-58AA-516517CCB88B}"/>
              </a:ext>
            </a:extLst>
          </p:cNvPr>
          <p:cNvCxnSpPr>
            <a:cxnSpLocks/>
          </p:cNvCxnSpPr>
          <p:nvPr/>
        </p:nvCxnSpPr>
        <p:spPr>
          <a:xfrm>
            <a:off x="4648200" y="5062075"/>
            <a:ext cx="89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F7B5A56B-487C-C0F4-19B8-0D0C5EBA22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2697" y="3989766"/>
            <a:ext cx="1283144" cy="2330340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CBE3292-B9B2-FF45-4298-C7DF45F5ED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1214" y="3965037"/>
            <a:ext cx="1293898" cy="2360590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04C32CD-EB69-D118-565A-5BE0A4701853}"/>
              </a:ext>
            </a:extLst>
          </p:cNvPr>
          <p:cNvSpPr/>
          <p:nvPr/>
        </p:nvSpPr>
        <p:spPr>
          <a:xfrm>
            <a:off x="5151925" y="1378114"/>
            <a:ext cx="502920" cy="502920"/>
          </a:xfrm>
          <a:prstGeom prst="ellipse">
            <a:avLst/>
          </a:prstGeom>
          <a:solidFill>
            <a:srgbClr val="104C44"/>
          </a:solidFill>
          <a:ln>
            <a:solidFill>
              <a:srgbClr val="104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FC9B5-0430-0E54-0778-7B0DC069CE41}"/>
              </a:ext>
            </a:extLst>
          </p:cNvPr>
          <p:cNvSpPr txBox="1"/>
          <p:nvPr/>
        </p:nvSpPr>
        <p:spPr>
          <a:xfrm>
            <a:off x="5254413" y="147351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8169DB5-B791-BD3A-CAFC-29E4AEEB37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11134" y="1921926"/>
            <a:ext cx="2857175" cy="4285762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D7F6DE-8618-6D0D-9F15-C12FA1400F8B}"/>
              </a:ext>
            </a:extLst>
          </p:cNvPr>
          <p:cNvCxnSpPr>
            <a:cxnSpLocks/>
          </p:cNvCxnSpPr>
          <p:nvPr/>
        </p:nvCxnSpPr>
        <p:spPr>
          <a:xfrm>
            <a:off x="2377609" y="2930558"/>
            <a:ext cx="7257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939B29C7-E3A2-E7AD-E959-7D85BBC626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57768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Architects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435D23-DF22-8E4E-3FED-A1D8349B5865}"/>
              </a:ext>
            </a:extLst>
          </p:cNvPr>
          <p:cNvGrpSpPr/>
          <p:nvPr/>
        </p:nvGrpSpPr>
        <p:grpSpPr>
          <a:xfrm>
            <a:off x="273072" y="1152143"/>
            <a:ext cx="11615928" cy="5145604"/>
            <a:chOff x="474240" y="1645919"/>
            <a:chExt cx="11615928" cy="514560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2AA35F-998E-8A9F-B691-11C99754225D}"/>
                </a:ext>
              </a:extLst>
            </p:cNvPr>
            <p:cNvGrpSpPr/>
            <p:nvPr/>
          </p:nvGrpSpPr>
          <p:grpSpPr>
            <a:xfrm rot="10800000">
              <a:off x="6323352" y="1652016"/>
              <a:ext cx="5766816" cy="5130361"/>
              <a:chOff x="486432" y="-722953"/>
              <a:chExt cx="5766816" cy="5130361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05C711C-3729-2E25-93F4-35594ED34DB4}"/>
                  </a:ext>
                </a:extLst>
              </p:cNvPr>
              <p:cNvSpPr/>
              <p:nvPr/>
            </p:nvSpPr>
            <p:spPr>
              <a:xfrm>
                <a:off x="486432" y="1733734"/>
                <a:ext cx="5763768" cy="2591959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B4D42CE-E20F-8592-6DC8-2260D78A0BDA}"/>
                  </a:ext>
                </a:extLst>
              </p:cNvPr>
              <p:cNvSpPr/>
              <p:nvPr/>
            </p:nvSpPr>
            <p:spPr>
              <a:xfrm>
                <a:off x="4544568" y="1645920"/>
                <a:ext cx="1705632" cy="27614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78253188-BB28-642F-C395-0EED4444E427}"/>
                  </a:ext>
                </a:extLst>
              </p:cNvPr>
              <p:cNvSpPr/>
              <p:nvPr/>
            </p:nvSpPr>
            <p:spPr>
              <a:xfrm>
                <a:off x="489480" y="-722953"/>
                <a:ext cx="5763768" cy="231329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6E29E3E-DAA9-C01F-3C2E-87ADB29B1164}"/>
                </a:ext>
              </a:extLst>
            </p:cNvPr>
            <p:cNvGrpSpPr/>
            <p:nvPr/>
          </p:nvGrpSpPr>
          <p:grpSpPr>
            <a:xfrm>
              <a:off x="474240" y="1645919"/>
              <a:ext cx="11230080" cy="5145604"/>
              <a:chOff x="474240" y="1645919"/>
              <a:chExt cx="11230080" cy="5145604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4C136E6-5852-7DDA-E992-05933ED6AC00}"/>
                  </a:ext>
                </a:extLst>
              </p:cNvPr>
              <p:cNvGrpSpPr/>
              <p:nvPr/>
            </p:nvGrpSpPr>
            <p:grpSpPr>
              <a:xfrm>
                <a:off x="474240" y="1732548"/>
                <a:ext cx="11230080" cy="5058975"/>
                <a:chOff x="474240" y="1732548"/>
                <a:chExt cx="11230080" cy="5058975"/>
              </a:xfrm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0E7C62BE-3AFD-1649-E388-9B2AC84A79F3}"/>
                    </a:ext>
                  </a:extLst>
                </p:cNvPr>
                <p:cNvSpPr/>
                <p:nvPr/>
              </p:nvSpPr>
              <p:spPr>
                <a:xfrm>
                  <a:off x="474240" y="4469088"/>
                  <a:ext cx="5763768" cy="2322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E703E33-B662-8E64-7188-2B69B9A44FC3}"/>
                    </a:ext>
                  </a:extLst>
                </p:cNvPr>
                <p:cNvSpPr/>
                <p:nvPr/>
              </p:nvSpPr>
              <p:spPr>
                <a:xfrm>
                  <a:off x="486432" y="1732548"/>
                  <a:ext cx="5763768" cy="2593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441B0507-DCE9-724B-BFB6-5239EFD193CF}"/>
                    </a:ext>
                  </a:extLst>
                </p:cNvPr>
                <p:cNvGrpSpPr/>
                <p:nvPr/>
              </p:nvGrpSpPr>
              <p:grpSpPr>
                <a:xfrm>
                  <a:off x="749808" y="1736099"/>
                  <a:ext cx="10954512" cy="4517256"/>
                  <a:chOff x="749808" y="1736099"/>
                  <a:chExt cx="10954512" cy="4517256"/>
                </a:xfrm>
              </p:grpSpPr>
              <p:sp>
                <p:nvSpPr>
                  <p:cNvPr id="17411" name="TextBox 17410"/>
                  <p:cNvSpPr txBox="1"/>
                  <p:nvPr/>
                </p:nvSpPr>
                <p:spPr>
                  <a:xfrm>
                    <a:off x="1512084" y="1736099"/>
                    <a:ext cx="2377440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defRPr sz="1700" b="1">
                        <a:solidFill>
                          <a:srgbClr val="E68B2D"/>
                        </a:solidFill>
                        <a:latin typeface="Aptos"/>
                      </a:defRPr>
                    </a:pPr>
                    <a:r>
                      <a:rPr u="sng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Technical Feasibility</a:t>
                    </a:r>
                  </a:p>
                </p:txBody>
              </p:sp>
              <p:sp>
                <p:nvSpPr>
                  <p:cNvPr id="17412" name="TextBox 17411"/>
                  <p:cNvSpPr txBox="1"/>
                  <p:nvPr/>
                </p:nvSpPr>
                <p:spPr>
                  <a:xfrm>
                    <a:off x="752855" y="2108956"/>
                    <a:ext cx="3715513" cy="160043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LLMs can understand user queries and provide personalized guidance.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Government scheme information can be organized into a searchable knowledge base.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The application allows multiple languages so that the user can understand more clear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DEEF581-5504-B284-B038-4262FA208200}"/>
                      </a:ext>
                    </a:extLst>
                  </p:cNvPr>
                  <p:cNvSpPr txBox="1"/>
                  <p:nvPr/>
                </p:nvSpPr>
                <p:spPr>
                  <a:xfrm>
                    <a:off x="8531628" y="1751339"/>
                    <a:ext cx="2377440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 sz="1700" b="1">
                        <a:solidFill>
                          <a:srgbClr val="E68B2D"/>
                        </a:solidFill>
                        <a:latin typeface="Aptos"/>
                      </a:defRPr>
                    </a:pPr>
                    <a:r>
                      <a:rPr lang="en-US" u="sng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Economic Viability</a:t>
                    </a:r>
                    <a:endParaRPr u="sng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68E6C3FE-026B-6F56-1395-22C465C311FD}"/>
                      </a:ext>
                    </a:extLst>
                  </p:cNvPr>
                  <p:cNvSpPr txBox="1"/>
                  <p:nvPr/>
                </p:nvSpPr>
                <p:spPr>
                  <a:xfrm>
                    <a:off x="8046720" y="2115052"/>
                    <a:ext cx="3657600" cy="13849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Open-source technologies and scalable cloud services can reduce initial costs.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AI automation reduces the requirement for extensive human advisory support.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Potential revenue through premium services and institutional partnerships.</a:t>
                    </a: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359244D7-7589-D482-2593-78B62396EF67}"/>
                      </a:ext>
                    </a:extLst>
                  </p:cNvPr>
                  <p:cNvSpPr txBox="1"/>
                  <p:nvPr/>
                </p:nvSpPr>
                <p:spPr>
                  <a:xfrm>
                    <a:off x="1509036" y="4467107"/>
                    <a:ext cx="2377440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defRPr sz="1700" b="1">
                        <a:solidFill>
                          <a:srgbClr val="E68B2D"/>
                        </a:solidFill>
                        <a:latin typeface="Aptos"/>
                      </a:defRPr>
                    </a:pPr>
                    <a:r>
                      <a:rPr lang="en-IN" sz="1700" b="1" u="sng" dirty="0">
                        <a:solidFill>
                          <a:srgbClr val="010000"/>
                        </a:solidFill>
                        <a:latin typeface="Aptos"/>
                      </a:rPr>
                      <a:t>Potential Challenges</a:t>
                    </a:r>
                    <a:endParaRPr u="sng" dirty="0">
                      <a:solidFill>
                        <a:srgbClr val="010000"/>
                      </a:solidFill>
                    </a:endParaRPr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70BB35A-7E73-7946-E163-A1FA6805B5C9}"/>
                      </a:ext>
                    </a:extLst>
                  </p:cNvPr>
                  <p:cNvSpPr txBox="1"/>
                  <p:nvPr/>
                </p:nvSpPr>
                <p:spPr>
                  <a:xfrm>
                    <a:off x="749808" y="4958836"/>
                    <a:ext cx="3657600" cy="95410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Keeping scheme information updated.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Ensuring accurate AI-generated recommendations.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Protecting user and business data.</a:t>
                    </a: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F4D652F-E569-1DD4-E3D8-B4F9F48D7234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904" y="4491491"/>
                    <a:ext cx="3090672" cy="6155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defRPr sz="1700" b="1">
                        <a:solidFill>
                          <a:srgbClr val="E68B2D"/>
                        </a:solidFill>
                        <a:latin typeface="Aptos"/>
                      </a:defRPr>
                    </a:pPr>
                    <a:r>
                      <a:rPr lang="en-IN" sz="1700" b="1" u="sng" dirty="0">
                        <a:solidFill>
                          <a:srgbClr val="010000"/>
                        </a:solidFill>
                        <a:latin typeface="Aptos"/>
                      </a:rPr>
                      <a:t>Strategies to Overcome Challenges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2E325AB-BAB9-B3F0-7711-C7F517AE2BEF}"/>
                      </a:ext>
                    </a:extLst>
                  </p:cNvPr>
                  <p:cNvSpPr txBox="1"/>
                  <p:nvPr/>
                </p:nvSpPr>
                <p:spPr>
                  <a:xfrm>
                    <a:off x="8043672" y="5083804"/>
                    <a:ext cx="3657600" cy="11695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Regular updates from official sources.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AI responses supported by verified information. </a:t>
                    </a:r>
                  </a:p>
                  <a:p>
                    <a:pPr marL="285750" lvl="0" indent="-285750">
                      <a:buFont typeface="Arial" panose="020B0604020202020204" pitchFamily="34" charset="0"/>
                      <a:buChar char="•"/>
                    </a:pPr>
                    <a:r>
                      <a:rPr lang="en-IN" sz="1400" b="1" dirty="0"/>
                      <a:t>Secure authentication and data protection mechanisms.</a:t>
                    </a:r>
                  </a:p>
                </p:txBody>
              </p:sp>
            </p:grp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B2F592-A10D-DE4B-F8FA-5CD951E71DBE}"/>
                  </a:ext>
                </a:extLst>
              </p:cNvPr>
              <p:cNvSpPr/>
              <p:nvPr/>
            </p:nvSpPr>
            <p:spPr>
              <a:xfrm>
                <a:off x="4544568" y="1645919"/>
                <a:ext cx="3487464" cy="51456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49AB44D8-3EC3-0202-B1A4-C9CF52BE5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898" y="1267088"/>
            <a:ext cx="1309982" cy="2411927"/>
          </a:xfrm>
          <a:prstGeom prst="roundRect">
            <a:avLst>
              <a:gd name="adj" fmla="val 13911"/>
            </a:avLst>
          </a:prstGeom>
          <a:ln w="19050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6A17C98-8C5D-FFE3-2F92-7736211CB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624" y="3878843"/>
            <a:ext cx="1319378" cy="2411304"/>
          </a:xfrm>
          <a:prstGeom prst="roundRect">
            <a:avLst>
              <a:gd name="adj" fmla="val 16582"/>
            </a:avLst>
          </a:prstGeom>
          <a:solidFill>
            <a:srgbClr val="FFFFFF"/>
          </a:solidFill>
          <a:ln w="1905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contourClr>
              <a:srgbClr val="C0C0C0"/>
            </a:contourClr>
          </a:sp3d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47DDAD9-B8A2-C3AF-D9E6-1AE317CF0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598" y="1267088"/>
            <a:ext cx="1309983" cy="2411927"/>
          </a:xfrm>
          <a:prstGeom prst="roundRect">
            <a:avLst>
              <a:gd name="adj" fmla="val 16667"/>
            </a:avLst>
          </a:prstGeom>
          <a:ln w="19050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1524349-5970-88B3-F34B-910C897CF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946" y="3860230"/>
            <a:ext cx="1330104" cy="2437517"/>
          </a:xfrm>
          <a:prstGeom prst="roundRect">
            <a:avLst>
              <a:gd name="adj" fmla="val 16667"/>
            </a:avLst>
          </a:prstGeom>
          <a:ln w="19050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B1C71A69-64E1-A22A-E65C-A7508EC0E1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57768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Architects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E01D7B-EF3D-E1B4-44E1-B34BD8B61D5E}"/>
              </a:ext>
            </a:extLst>
          </p:cNvPr>
          <p:cNvGrpSpPr/>
          <p:nvPr/>
        </p:nvGrpSpPr>
        <p:grpSpPr>
          <a:xfrm>
            <a:off x="229188" y="1211574"/>
            <a:ext cx="4790868" cy="2677992"/>
            <a:chOff x="329772" y="1604766"/>
            <a:chExt cx="4790868" cy="267799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7D23546-8ABB-6B50-968D-CD01B0B50439}"/>
                </a:ext>
              </a:extLst>
            </p:cNvPr>
            <p:cNvSpPr/>
            <p:nvPr/>
          </p:nvSpPr>
          <p:spPr>
            <a:xfrm>
              <a:off x="329772" y="1604766"/>
              <a:ext cx="4790868" cy="2677992"/>
            </a:xfrm>
            <a:prstGeom prst="roundRect">
              <a:avLst>
                <a:gd name="adj" fmla="val 30421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11" name="TextBox 17410"/>
            <p:cNvSpPr txBox="1"/>
            <p:nvPr/>
          </p:nvSpPr>
          <p:spPr>
            <a:xfrm>
              <a:off x="1362456" y="1619350"/>
              <a:ext cx="2807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104C44"/>
                  </a:solidFill>
                  <a:latin typeface="Aptos"/>
                </a:defRPr>
              </a:pPr>
              <a:r>
                <a:rPr lang="en-IN" b="1" u="sng" dirty="0">
                  <a:solidFill>
                    <a:srgbClr val="010000"/>
                  </a:solidFill>
                  <a:latin typeface="Aptos"/>
                </a:rPr>
                <a:t>Impact on Target Users</a:t>
              </a:r>
              <a:endParaRPr u="sng" dirty="0">
                <a:solidFill>
                  <a:srgbClr val="010000"/>
                </a:solidFill>
              </a:endParaRPr>
            </a:p>
          </p:txBody>
        </p:sp>
        <p:sp>
          <p:nvSpPr>
            <p:cNvPr id="17417" name="TextBox 17416"/>
            <p:cNvSpPr txBox="1"/>
            <p:nvPr/>
          </p:nvSpPr>
          <p:spPr>
            <a:xfrm>
              <a:off x="455364" y="1929503"/>
              <a:ext cx="4656131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Helps aspiring entrepreneurs understand available business opportunities.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Reduces the difficulty of finding suitable government schemes and financial support.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Saves time by providing relevant information in one platform.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Makes business guidance more accessible to people with limited knowledge of government processes.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23AE2E-EEDC-569A-DA8D-F1E48ECCFF86}"/>
              </a:ext>
            </a:extLst>
          </p:cNvPr>
          <p:cNvGrpSpPr/>
          <p:nvPr/>
        </p:nvGrpSpPr>
        <p:grpSpPr>
          <a:xfrm>
            <a:off x="189564" y="4068566"/>
            <a:ext cx="5095668" cy="1742770"/>
            <a:chOff x="482172" y="4167118"/>
            <a:chExt cx="5095668" cy="174277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29CCC99-B0AE-7920-F2ED-0A84FEE33204}"/>
                </a:ext>
              </a:extLst>
            </p:cNvPr>
            <p:cNvSpPr/>
            <p:nvPr/>
          </p:nvSpPr>
          <p:spPr>
            <a:xfrm>
              <a:off x="482172" y="4167118"/>
              <a:ext cx="5047488" cy="1742770"/>
            </a:xfrm>
            <a:prstGeom prst="roundRect">
              <a:avLst>
                <a:gd name="adj" fmla="val 30421"/>
              </a:avLst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18" name="TextBox 17417"/>
            <p:cNvSpPr txBox="1"/>
            <p:nvPr/>
          </p:nvSpPr>
          <p:spPr>
            <a:xfrm>
              <a:off x="2112264" y="4200144"/>
              <a:ext cx="17465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104C44"/>
                  </a:solidFill>
                  <a:latin typeface="Aptos"/>
                </a:defRPr>
              </a:pPr>
              <a:r>
                <a:rPr lang="en-IN" b="1" u="sng" dirty="0">
                  <a:solidFill>
                    <a:srgbClr val="010000"/>
                  </a:solidFill>
                  <a:latin typeface="Aptos"/>
                </a:rPr>
                <a:t>Social Benefits</a:t>
              </a:r>
              <a:endParaRPr u="sng" dirty="0">
                <a:solidFill>
                  <a:srgbClr val="010000"/>
                </a:solidFill>
              </a:endParaRPr>
            </a:p>
          </p:txBody>
        </p:sp>
        <p:sp>
          <p:nvSpPr>
            <p:cNvPr id="17424" name="TextBox 17423"/>
            <p:cNvSpPr txBox="1"/>
            <p:nvPr/>
          </p:nvSpPr>
          <p:spPr>
            <a:xfrm>
              <a:off x="530352" y="4629912"/>
              <a:ext cx="5047488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Promotes entrepreneurship and self-employment.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Improves access to business-related information.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Supports users from different linguistic and educational backgrounds.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4A6D48F-E891-3834-69BE-D5C17D30A6C5}"/>
              </a:ext>
            </a:extLst>
          </p:cNvPr>
          <p:cNvGrpSpPr/>
          <p:nvPr/>
        </p:nvGrpSpPr>
        <p:grpSpPr>
          <a:xfrm>
            <a:off x="5926114" y="3006385"/>
            <a:ext cx="5174114" cy="2910439"/>
            <a:chOff x="5926114" y="3351825"/>
            <a:chExt cx="5174114" cy="2910439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D92912F-B9AD-E565-9137-EA7166D3F832}"/>
                </a:ext>
              </a:extLst>
            </p:cNvPr>
            <p:cNvGrpSpPr/>
            <p:nvPr/>
          </p:nvGrpSpPr>
          <p:grpSpPr>
            <a:xfrm>
              <a:off x="5926114" y="3351825"/>
              <a:ext cx="5174114" cy="2910439"/>
              <a:chOff x="5926114" y="3412785"/>
              <a:chExt cx="5174114" cy="2910439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B6285332-2633-230D-0985-A0FF2BABB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75000"/>
              </a:blip>
              <a:stretch>
                <a:fillRect/>
              </a:stretch>
            </p:blipFill>
            <p:spPr>
              <a:xfrm>
                <a:off x="5926114" y="3412785"/>
                <a:ext cx="5174114" cy="2910439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2EFAF6C-7151-A62E-D73B-6A44B59933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rcRect l="7407" t="25674" b="11479"/>
              <a:stretch>
                <a:fillRect/>
              </a:stretch>
            </p:blipFill>
            <p:spPr>
              <a:xfrm>
                <a:off x="6309360" y="4158296"/>
                <a:ext cx="4790868" cy="1829119"/>
              </a:xfrm>
              <a:prstGeom prst="rect">
                <a:avLst/>
              </a:prstGeom>
            </p:spPr>
          </p:pic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7614065-2F81-C9B3-26C4-E794F925085F}"/>
                </a:ext>
              </a:extLst>
            </p:cNvPr>
            <p:cNvSpPr/>
            <p:nvPr/>
          </p:nvSpPr>
          <p:spPr>
            <a:xfrm>
              <a:off x="5926114" y="3500120"/>
              <a:ext cx="5174114" cy="4469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1B5BE6-24B8-2AE9-B9DD-7955720BCDF8}"/>
              </a:ext>
            </a:extLst>
          </p:cNvPr>
          <p:cNvGrpSpPr/>
          <p:nvPr/>
        </p:nvGrpSpPr>
        <p:grpSpPr>
          <a:xfrm>
            <a:off x="6052740" y="1122848"/>
            <a:ext cx="5095668" cy="2168992"/>
            <a:chOff x="482172" y="4167118"/>
            <a:chExt cx="5095668" cy="216899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981F3AF-1A8C-54C8-0B63-644D593110F9}"/>
                </a:ext>
              </a:extLst>
            </p:cNvPr>
            <p:cNvSpPr/>
            <p:nvPr/>
          </p:nvSpPr>
          <p:spPr>
            <a:xfrm>
              <a:off x="482172" y="4167118"/>
              <a:ext cx="5047488" cy="2168992"/>
            </a:xfrm>
            <a:prstGeom prst="roundRect">
              <a:avLst>
                <a:gd name="adj" fmla="val 30421"/>
              </a:avLst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D2714A-73BB-83F2-A968-766FCFDEC0B4}"/>
                </a:ext>
              </a:extLst>
            </p:cNvPr>
            <p:cNvSpPr txBox="1"/>
            <p:nvPr/>
          </p:nvSpPr>
          <p:spPr>
            <a:xfrm>
              <a:off x="1848104" y="4189984"/>
              <a:ext cx="23755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104C44"/>
                  </a:solidFill>
                  <a:latin typeface="Aptos"/>
                </a:defRPr>
              </a:pPr>
              <a:r>
                <a:rPr lang="en-IN" b="1" u="sng" dirty="0">
                  <a:solidFill>
                    <a:srgbClr val="010000"/>
                  </a:solidFill>
                  <a:latin typeface="Aptos"/>
                </a:rPr>
                <a:t>Economic Benefits</a:t>
              </a:r>
              <a:endParaRPr u="sng" dirty="0">
                <a:solidFill>
                  <a:srgbClr val="01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E94B04-BF49-792A-B417-A4C18198F69F}"/>
                </a:ext>
              </a:extLst>
            </p:cNvPr>
            <p:cNvSpPr txBox="1"/>
            <p:nvPr/>
          </p:nvSpPr>
          <p:spPr>
            <a:xfrm>
              <a:off x="530352" y="4589272"/>
              <a:ext cx="5047488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Helps entrepreneurs identify suitable financial support opportunities.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Reduces information gaps in accessing government schemes.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Can contribute to the growth of small businesses and startups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52470A-94AD-7FB2-D8CA-B9A98A182748}"/>
              </a:ext>
            </a:extLst>
          </p:cNvPr>
          <p:cNvGrpSpPr/>
          <p:nvPr/>
        </p:nvGrpSpPr>
        <p:grpSpPr>
          <a:xfrm>
            <a:off x="1238569" y="1070883"/>
            <a:ext cx="9762614" cy="2893100"/>
            <a:chOff x="771209" y="1121683"/>
            <a:chExt cx="9762614" cy="28931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8FA62CF-1784-DFC9-F1EB-1C534789A336}"/>
                </a:ext>
              </a:extLst>
            </p:cNvPr>
            <p:cNvSpPr/>
            <p:nvPr/>
          </p:nvSpPr>
          <p:spPr>
            <a:xfrm>
              <a:off x="771209" y="1121683"/>
              <a:ext cx="9732705" cy="2893100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 w="28575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10" name="TextBox 8"/>
            <p:cNvSpPr txBox="1">
              <a:spLocks noChangeArrowheads="1"/>
            </p:cNvSpPr>
            <p:nvPr/>
          </p:nvSpPr>
          <p:spPr bwMode="auto">
            <a:xfrm>
              <a:off x="1148523" y="1121683"/>
              <a:ext cx="9385300" cy="2893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IN" sz="1400" b="1" dirty="0"/>
                <a:t>REFERENCE LINKS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IN" sz="1400" b="1" dirty="0"/>
                <a:t>Udyam Registration — Government of India</a:t>
              </a:r>
            </a:p>
            <a:p>
              <a:r>
                <a:rPr lang="en-IN" sz="1400" b="1" dirty="0"/>
                <a:t> Description:</a:t>
              </a:r>
              <a:r>
                <a:rPr lang="en-IN" sz="1400" dirty="0"/>
                <a:t> Official MSME registration and classification platform used to identify and classify micro, small and medium enterprises.</a:t>
              </a:r>
              <a:br>
                <a:rPr lang="en-IN" sz="1400" dirty="0"/>
              </a:br>
              <a:r>
                <a:rPr lang="en-IN" sz="1400" b="1" dirty="0"/>
                <a:t>Link:</a:t>
              </a:r>
              <a:r>
                <a:rPr lang="en-IN" sz="1400" dirty="0"/>
                <a:t> </a:t>
              </a:r>
              <a:r>
                <a:rPr lang="en-IN" sz="1400" dirty="0">
                  <a:hlinkClick r:id="rId3"/>
                </a:rPr>
                <a:t>https://udyamregistration.gov.in/</a:t>
              </a:r>
              <a:endParaRPr lang="en-IN" sz="1400" dirty="0"/>
            </a:p>
            <a:p>
              <a:pPr marL="342900" indent="-342900" algn="just">
                <a:buFont typeface="Wingdings" panose="05000000000000000000" pitchFamily="2" charset="2"/>
                <a:buChar char="Ø"/>
              </a:pPr>
              <a:r>
                <a:rPr lang="en-IN" sz="1400" b="1" dirty="0"/>
                <a:t> ASPIRE — Ministry of MSME</a:t>
              </a:r>
            </a:p>
            <a:p>
              <a:r>
                <a:rPr lang="en-IN" sz="1400" b="1" dirty="0"/>
                <a:t>Description:</a:t>
              </a:r>
              <a:r>
                <a:rPr lang="en-IN" sz="1400" dirty="0"/>
                <a:t> Government initiative promoting innovation, rural industries, entrepreneurship and livelihood-based micro-enterprises through incubation and support.</a:t>
              </a:r>
              <a:br>
                <a:rPr lang="en-IN" sz="1400" dirty="0"/>
              </a:br>
              <a:r>
                <a:rPr lang="en-IN" sz="1400" b="1" dirty="0"/>
                <a:t>Link:</a:t>
              </a:r>
              <a:r>
                <a:rPr lang="en-IN" sz="1400" dirty="0"/>
                <a:t> </a:t>
              </a:r>
              <a:r>
                <a:rPr lang="en-IN" sz="1400" dirty="0">
                  <a:hlinkClick r:id="rId4"/>
                </a:rPr>
                <a:t>https://aspire.msme.gov.in/ASPIRE/AFHome.aspx</a:t>
              </a:r>
              <a:endParaRPr lang="en-IN" sz="1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IN" sz="1400" b="1" dirty="0"/>
                <a:t>PMEGP — Prime Minister’s Employment Generation Programme</a:t>
              </a:r>
            </a:p>
            <a:p>
              <a:r>
                <a:rPr lang="en-IN" sz="1400" b="1" dirty="0"/>
                <a:t>Description:</a:t>
              </a:r>
              <a:r>
                <a:rPr lang="en-IN" sz="1400" dirty="0"/>
                <a:t> Government scheme supporting new micro-enterprises through financial assistance, entrepreneurship development and employment generation, particularly relevant to rural business creation.</a:t>
              </a:r>
              <a:br>
                <a:rPr lang="en-IN" sz="1400" dirty="0"/>
              </a:br>
              <a:r>
                <a:rPr lang="en-IN" sz="1400" b="1" dirty="0"/>
                <a:t>Link:</a:t>
              </a:r>
              <a:r>
                <a:rPr lang="en-IN" sz="1400" dirty="0"/>
                <a:t> </a:t>
              </a:r>
              <a:r>
                <a:rPr lang="en-IN" sz="1400" dirty="0">
                  <a:hlinkClick r:id="rId5"/>
                </a:rPr>
                <a:t>https://www.kviconline.gov.in/pmegpeportal/pmegphome/index.jsp</a:t>
              </a:r>
              <a:endParaRPr lang="en-IN" sz="1400" dirty="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05E442E-3559-C320-3CEA-0AA62BD8DB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57768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Architects</a:t>
            </a: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33B93B-A851-4643-06D2-C8324674CAED}"/>
              </a:ext>
            </a:extLst>
          </p:cNvPr>
          <p:cNvGrpSpPr/>
          <p:nvPr/>
        </p:nvGrpSpPr>
        <p:grpSpPr>
          <a:xfrm>
            <a:off x="1230885" y="4014783"/>
            <a:ext cx="9732706" cy="2319528"/>
            <a:chOff x="1688085" y="4014783"/>
            <a:chExt cx="9732706" cy="231952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6D68229-896B-B5F3-DCC4-2FF03BB1D7C7}"/>
                </a:ext>
              </a:extLst>
            </p:cNvPr>
            <p:cNvSpPr/>
            <p:nvPr/>
          </p:nvSpPr>
          <p:spPr>
            <a:xfrm>
              <a:off x="1688085" y="4014783"/>
              <a:ext cx="9732705" cy="2319528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2383C7F3-B636-317A-4895-B9F78461C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491" y="4080561"/>
              <a:ext cx="9385300" cy="2246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IN" sz="1400" b="1" dirty="0"/>
                <a:t>RESEARCH PAPERS</a:t>
              </a:r>
            </a:p>
            <a:p>
              <a:r>
                <a:rPr lang="en-IN" sz="1400" dirty="0"/>
                <a:t>➢ </a:t>
              </a:r>
              <a:r>
                <a:rPr lang="en-IN" sz="1400" b="1" dirty="0"/>
                <a:t>Government Policies and MSME Growth in India</a:t>
              </a:r>
              <a:br>
                <a:rPr lang="en-IN" sz="1400" dirty="0"/>
              </a:br>
              <a:r>
                <a:rPr lang="en-IN" sz="1400" b="1" dirty="0"/>
                <a:t>Description:</a:t>
              </a:r>
              <a:r>
                <a:rPr lang="en-IN" sz="1400" dirty="0"/>
                <a:t> Examines how government policies and initiatives support MSME growth and entrepreneurship.</a:t>
              </a:r>
              <a:br>
                <a:rPr lang="en-IN" sz="1400" dirty="0"/>
              </a:br>
              <a:r>
                <a:rPr lang="en-IN" sz="1400" b="1" dirty="0"/>
                <a:t>Google Scholar</a:t>
              </a:r>
              <a:r>
                <a:rPr lang="en-IN" sz="1400" b="1" u="sng" dirty="0">
                  <a:solidFill>
                    <a:srgbClr val="0000FF"/>
                  </a:solidFill>
                </a:rPr>
                <a:t>:</a:t>
              </a:r>
              <a:r>
                <a:rPr lang="en-IN" sz="1400" u="sng" dirty="0">
                  <a:solidFill>
                    <a:srgbClr val="0000FF"/>
                  </a:solidFill>
                </a:rPr>
                <a:t> </a:t>
              </a:r>
              <a:r>
                <a:rPr lang="en-IN" sz="1400" u="sng" dirty="0">
                  <a:solidFill>
                    <a:srgbClr val="0000FF"/>
                  </a:solidFill>
                  <a:hlinkClick r:id="rId7"/>
                </a:rPr>
                <a:t>https://scholar.google.com/scholar?q=Government+Policies+and+MSME+Growth+in+India</a:t>
              </a:r>
              <a:endParaRPr lang="en-IN" sz="1400" u="sng" dirty="0">
                <a:solidFill>
                  <a:srgbClr val="0000FF"/>
                </a:solidFill>
              </a:endParaRPr>
            </a:p>
            <a:p>
              <a:r>
                <a:rPr lang="en-IN" sz="1400" dirty="0"/>
                <a:t>➢ </a:t>
              </a:r>
              <a:r>
                <a:rPr lang="en-IN" sz="1400" b="1" dirty="0"/>
                <a:t>Awareness of Government Schemes among MSME Entrepreneurs</a:t>
              </a:r>
              <a:br>
                <a:rPr lang="en-IN" sz="1400" dirty="0"/>
              </a:br>
              <a:r>
                <a:rPr lang="en-IN" sz="1400" b="1" dirty="0"/>
                <a:t>Description:</a:t>
              </a:r>
              <a:r>
                <a:rPr lang="en-IN" sz="1400" dirty="0"/>
                <a:t> Studies how awareness of government schemes affects entrepreneurs and MSME development.</a:t>
              </a:r>
              <a:br>
                <a:rPr lang="en-IN" sz="1400" dirty="0"/>
              </a:br>
              <a:r>
                <a:rPr lang="en-IN" sz="1400" b="1" dirty="0"/>
                <a:t>Google Scholar</a:t>
              </a:r>
              <a:r>
                <a:rPr lang="en-IN" sz="1400" b="1" u="sng" dirty="0"/>
                <a:t>:</a:t>
              </a:r>
              <a:r>
                <a:rPr lang="en-IN" sz="1400" u="sng" dirty="0"/>
                <a:t> </a:t>
              </a:r>
              <a:r>
                <a:rPr lang="en-IN" sz="1400" u="sng" dirty="0">
                  <a:solidFill>
                    <a:srgbClr val="0000FF"/>
                  </a:solidFill>
                  <a:hlinkClick r:id="rId8"/>
                </a:rPr>
                <a:t>https://scholar.google.com/scholar</a:t>
              </a:r>
              <a:r>
                <a:rPr lang="en-IN" sz="1400" dirty="0">
                  <a:solidFill>
                    <a:srgbClr val="0000FF"/>
                  </a:solidFill>
                  <a:hlinkClick r:id="rId8"/>
                </a:rPr>
                <a:t>?q=Awareness+of+Government+Schemes+among+MSME+Entrepreneurs</a:t>
              </a:r>
              <a:endParaRPr lang="en-IN" sz="1400" dirty="0">
                <a:solidFill>
                  <a:srgbClr val="0000FF"/>
                </a:solidFill>
              </a:endParaRPr>
            </a:p>
            <a:p>
              <a:r>
                <a:rPr lang="en-IN" sz="1400" dirty="0"/>
                <a:t>➢ </a:t>
              </a:r>
              <a:r>
                <a:rPr lang="en-IN" sz="1400" b="1" dirty="0"/>
                <a:t>PMEGP and Entrepreneurship Development in India</a:t>
              </a:r>
              <a:br>
                <a:rPr lang="en-IN" sz="1400" dirty="0"/>
              </a:br>
              <a:r>
                <a:rPr lang="en-IN" sz="1400" b="1" dirty="0"/>
                <a:t>Description:</a:t>
              </a:r>
              <a:r>
                <a:rPr lang="en-IN" sz="1400" dirty="0"/>
                <a:t> Analyses the role of PMEGP in supporting entrepreneurship and generating employment.</a:t>
              </a:r>
              <a:br>
                <a:rPr lang="en-IN" sz="1400" dirty="0"/>
              </a:br>
              <a:r>
                <a:rPr lang="en-IN" sz="1400" b="1" dirty="0"/>
                <a:t>Google Scholar:</a:t>
              </a:r>
              <a:r>
                <a:rPr lang="en-IN" sz="1400" dirty="0"/>
                <a:t> </a:t>
              </a:r>
              <a:r>
                <a:rPr lang="en-IN" sz="1400" u="sng" dirty="0">
                  <a:solidFill>
                    <a:srgbClr val="0000FF"/>
                  </a:solidFill>
                  <a:hlinkClick r:id="rId9"/>
                </a:rPr>
                <a:t>https://scholar.google.com/scholar?q=PMEGP+and+Entrepreneurship+Development+in+India</a:t>
              </a:r>
              <a:endParaRPr lang="en-IN" sz="1400" u="sng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91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8158</TotalTime>
  <Words>773</Words>
  <Application>Microsoft Office PowerPoint</Application>
  <PresentationFormat>Widescreen</PresentationFormat>
  <Paragraphs>106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PROPOSED SOLUTION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CodeArchitects</dc:creator>
  <cp:keywords/>
  <dc:description/>
  <cp:lastModifiedBy>Sai Vignesh</cp:lastModifiedBy>
  <cp:revision>166</cp:revision>
  <dcterms:created xsi:type="dcterms:W3CDTF">2013-12-12T18:46:50Z</dcterms:created>
  <dcterms:modified xsi:type="dcterms:W3CDTF">2026-09-04T16:31:47Z</dcterms:modified>
  <cp:category/>
</cp:coreProperties>
</file>