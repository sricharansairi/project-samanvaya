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097280"/>
            <a:ext cx="1828800" cy="12180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566160" y="2651760"/>
            <a:ext cx="5059375" cy="384048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NATIONAL DIGITAL HEALTHCARE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A2540"/>
                </a:solidFill>
              </a:defRPr>
            </a:pPr>
            <a:r>
              <a:t>Project Samanvaya (समन्वय)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Smart Case-Taking &amp; AYUSH-Allopathic Clinical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9204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75569"/>
                </a:solidFill>
              </a:defRPr>
            </a:pPr>
            <a:r>
              <a:t>Bridging linguistic, diagnostic, and clinical operational gaps across Indian Public Healthcare Facilities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ABDM FHIR R4 Compliant  •  DPDP Act 2023 Verified  •  22 Scheduled Indian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THE HEALTHCARE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The OPD Bottleneck in Public Healthcare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60120" cy="6394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Project Samanvaya • National Smart Case-Taking &amp; Clinical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2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PROBLEM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27797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Severe Linguistic &amp; Literacy Barriers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Over 80% of patients attending district hospitals speak regional vernaculars or dialects. Patients struggle with complex registration forms, English medical jargon, and inability to read prescription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709160"/>
            <a:ext cx="2779776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73168"/>
            <a:ext cx="27797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</a:defRPr>
            </a:pPr>
            <a:r>
              <a:t>80%+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Dialect Intake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1874519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81"/>
                </a:solidFill>
              </a:defRPr>
            </a:pPr>
            <a:r>
              <a:t>PROBLEM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194560"/>
            <a:ext cx="27797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Overcrowded OPD &amp; Rushed Case-Taking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97180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Government doctors routinely manage 100-150 patients in a single 4-hour OPD window (&lt; 90 seconds per patient). Critical past medical history, drug allergies, and vital signs slip through administrative cracks.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16" y="4709160"/>
            <a:ext cx="2779776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4773168"/>
            <a:ext cx="27797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4C81"/>
                </a:solidFill>
              </a:defRPr>
            </a:pPr>
            <a:r>
              <a:t>&lt; 90s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5303520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Avg Physician Consultation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874519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PROBLEM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194560"/>
            <a:ext cx="27797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Allopathic &amp; AYUSH Incompatibility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97180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Millions of citizens simultaneously use traditional ayurvedic remedies alongside allopathic drugs. Complete absence of cross-system checking leads to dangerous herb-drug conflicts and adverse reactions.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4709160"/>
            <a:ext cx="2779776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773168"/>
            <a:ext cx="27797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Zero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5303520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Cross-System Safety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Intelligent Case-Taking &amp; Strict Role Separation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60120" cy="6394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Project Samanvaya • National Smart Case-Taking &amp; Clinical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3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4C81"/>
                </a:solidFill>
              </a:defRPr>
            </a:pPr>
            <a:r>
              <a:t>Core Design Principle:</a:t>
            </a:r>
          </a:p>
          <a:p>
            <a:pPr>
              <a:defRPr b="1" sz="1300">
                <a:solidFill>
                  <a:srgbClr val="0A2540"/>
                </a:solidFill>
              </a:defRPr>
            </a:pPr>
            <a:r>
              <a:t>“Not simply digitizing an intake form — but ensuring a patient's case never falls through the cracks between walking in and clinical discharge.”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18099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63235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PUBLIC CITIZEN PORTAL (ZERO LOGIN FRICTION)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463235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540"/>
                </a:solidFill>
              </a:defRPr>
            </a:pPr>
            <a:r>
              <a:t>Patient-First Autonomous Kiosk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63235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Instant 14-Digit ABHA 3D Smart Card creation with offline caching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Multilingual Vernacular Voice Triage in patient's native dialect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Prescription Scanner &amp; Jan Aushadhi generic mapping (85% savings)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PM-JAY &amp; 36 States/UTs Scheme Navigator adapting to ration card colors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Tele-MANAS 14416 mental health integration &amp; guided breathing pacers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Live OPD Token pass tracking wait times and assigned doctor 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270" y="2560320"/>
            <a:ext cx="518099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2590" y="2743200"/>
            <a:ext cx="463235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4C81"/>
                </a:solidFill>
              </a:defRPr>
            </a:pPr>
            <a:r>
              <a:t>HOSPITAL INFORMATION SYSTEM (HIS ENCLAVE)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590" y="3063240"/>
            <a:ext cx="463235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540"/>
                </a:solidFill>
              </a:defRPr>
            </a:pPr>
            <a:r>
              <a:t>Role-Gated Clinical &amp; Doctor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590" y="3566160"/>
            <a:ext cx="463235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Physician Consultation Desk with longitudinal patient timeline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Clinical Decision Support (CDSS) with cross-system Herb-Drug safety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Automated ABDM FHIR R4 Bundle authoring and direct dispatch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Clinical RAG Co-Pilot grounded in ICMR &amp; AIIMS standard guidelines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WHO AWaRe Antimicrobial Stewardship Audit flagging antibiotic overuse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Statutory DPDP Act 2023 Consent Logs with cryptographic audit trails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PATIENT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Frictionless Walk-in Patient Workflow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60120" cy="6394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Project Samanvaya • National Smart Case-Taking &amp; Clinical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4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87168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1214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1214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Voice Intake in Vernacular Tongue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121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Patient speaks in their dialect. Voice AI converts speech to text, while Babel Fish translates idioms to clinical terms in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212140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663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Sarvam ASR + Bhashini (22 Languages)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645920"/>
            <a:ext cx="2487168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874519"/>
            <a:ext cx="21214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14600"/>
            <a:ext cx="21214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3-Tier Triage &amp; Red-Flag Escort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37560"/>
            <a:ext cx="2121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Deterministic regex instantly catches life-threatening red flags (chest pain, stroke). High-param models structure symptoms into SNOMED codes.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5120640"/>
            <a:ext cx="212140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51663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Groq LPU (&lt;250ms) + 70B Clinical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2487168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21214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21214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Document OCR &amp; Jan Aushadhi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37560"/>
            <a:ext cx="2121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Camera scans old handwritten prescriptions. System maps expensive brand drugs to generic Jan Aushadhi salts saving up to 85%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120640"/>
            <a:ext cx="212140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1663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Multimodal Vision AI + Kendra GPS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1645920"/>
            <a:ext cx="2487168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874519"/>
            <a:ext cx="212140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514600"/>
            <a:ext cx="21214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Smart Parchi &amp; WhatsApp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337560"/>
            <a:ext cx="2121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Issues physical smart slip and WhatsApp digital pass with live OPD queue number, department room, and doctor timeline.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120640"/>
            <a:ext cx="2121408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51663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Real-time Queue Bus + ABDM Gateway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PHYSICIAN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Clinical Decision Support &amp; Pharmacovigilance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60120" cy="6394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Project Samanvaya • National Smart Case-Taking &amp; Clinical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5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8099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SAFETY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0830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4C81"/>
                </a:solidFill>
              </a:defRPr>
            </a:pPr>
            <a:r>
              <a:t>Allopathic + AYUSH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63235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Cross-System Herb-Drug Conflict Checker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463235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Real-time safety engine evaluating allopathic prescriptions against active Ayurvedic and herbal preparations (e.g., Metformin + Karela leading to hypoglycemia, or Aspirin + Ginkgo increasing hemorrhage risks).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270" y="1645920"/>
            <a:ext cx="518099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2590" y="1828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ANTIMICROBIAL STEWARDSHIP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7580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4C81"/>
                </a:solidFill>
              </a:defRPr>
            </a:pPr>
            <a:r>
              <a:t>ICMR &amp; WHO Aligned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590" y="2148840"/>
            <a:ext cx="463235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WHO AWaRe Antibiotic Compliance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590" y="2606040"/>
            <a:ext cx="463235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Automated clinical audit classifying prescribed antibiotics into Access, Watch, and Reserve categories. Directly flags empirical fluoroquinolone/macrolide overuse to fight antimicrobial resistance (AMR).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18099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1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EVIDENCE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0830" y="4160519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4C81"/>
                </a:solidFill>
              </a:defRPr>
            </a:pPr>
            <a:r>
              <a:t>pgvector Hybrid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59"/>
            <a:ext cx="463235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Clinical RAG Grounded in ICMR Protocols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59"/>
            <a:ext cx="463235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Evidence-grounded medical copilot powered by ICMR Standard Treatment Workflows, AIIMS algorithms, and StatPearls. Generates diagnostic check panels and red-flag alerts directly for the consulting physician.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270" y="3977639"/>
            <a:ext cx="518099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2590" y="416051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INTEROPERABILITY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7580" y="4160519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4C81"/>
                </a:solidFill>
              </a:defRPr>
            </a:pPr>
            <a:r>
              <a:t>NHA &amp; ABDM Compliant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2590" y="4480559"/>
            <a:ext cx="463235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Automated ABDM FHIR R4 Bundling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2590" y="4937759"/>
            <a:ext cx="463235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Converts patient vitals, clinical observations, diagnoses, and prescriptions into standardized FHIR R4 JSON bundles compatible with NHA milestones M1, M2, and M3 for seamless federated health exchange.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Robust 3-Tier AI Stack &amp; Production Standards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60120" cy="6394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Project Samanvaya • National Smart Case-Taking &amp; Clinical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6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4C81"/>
                </a:solidFill>
              </a:defRPr>
            </a:pPr>
            <a:r>
              <a:t>3-TIER FAULT-TOLERANT AI ROUTING 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28600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Tier 1: Ultra-Fast Intent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7004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Groq LPU Engine (Llama 3.3)  •  &lt; 250ms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443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Real-time voice intent parsing, quick navigation chips, and high-throughput conversational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52044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1188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Tier 2: Deterministic Emergency Safety 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0448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Deterministic Clinical Regex Engine  •  &lt; 5ms (Zero Hallucination)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788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Hardcoded red-flag net monitoring for chest pain, stroke, severe bleeding, and respiratory distress.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75488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463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Tier 3: Deep Clinical Structuring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138928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70B Medical Models + Multimodal NIM  •  ~ 1.2s Clinical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132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Maps unstructured vernacular complaints into SNOMED-CT, ICD-10, and LOINC terminologies.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828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4C81"/>
                </a:solidFill>
              </a:defRPr>
            </a:pPr>
            <a:r>
              <a:t>PRODUCTION STACK &amp; INTEROPERABILITY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317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Frontend Architecture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Next.js 16 (App Router + Turbopack), React 19, Framer Motion, Vanilla CSS Design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0632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High-Performance Backend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FastAPI (Python 3.11), Uvicorn ASGI, Pydantic v2 schemas, WebSocket stateful streams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947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Database &amp; Vector Engine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Supabase PostgreSQL with pgvector cosine similarity search and cryptographic SHA-256 audit triggers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5262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Speech &amp; Language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Sarvam AI (Saaras v3 / Bulbul v3) + Digital India Bhashini ULCA for 22 scheduled 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2578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t>Statutory Compliance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DPDP Act 2023 Section 6 consent manager + ABDM FHIR R4 Bundle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IMPACT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Measurable National Impact &amp; Privacy by Design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960120" cy="6394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Project Samanvaya • National Smart Case-Taking &amp; Clinical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7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164592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3284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4C81"/>
                </a:solidFill>
              </a:defRPr>
            </a:pPr>
            <a:r>
              <a:t>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Reduction in OPD Intake 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Structured preliminary case summaries ready before physician consultation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645920"/>
            <a:ext cx="3328416" cy="164592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783080"/>
            <a:ext cx="33284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4C81"/>
                </a:solidFill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7744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Max Out-of-Pocket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74320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Direct brand-to-salt substitution via Jan Aushadhi Kendras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45920"/>
            <a:ext cx="3328416" cy="164592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1783080"/>
            <a:ext cx="33284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4C81"/>
                </a:solidFill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7744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Official Indian 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74320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Universal vernacular voice access for zero-barrier rural inclusion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49039"/>
            <a:ext cx="101800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4C81"/>
                </a:solidFill>
              </a:defRPr>
            </a:pPr>
            <a:r>
              <a:t>STATUTORY COMPLIANCE &amp; PRIVACY BY DESIGN (DPDP ACT 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60520"/>
            <a:ext cx="101800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2540"/>
                </a:solidFill>
              </a:defRPr>
            </a:pPr>
            <a:r>
              <a:t>• Section 6 Bilingual Audio Consent: </a:t>
            </a:r>
            <a:r>
              <a:rPr sz="1050" b="0">
                <a:solidFill>
                  <a:srgbClr val="475569"/>
                </a:solidFill>
              </a:rPr>
              <a:t>Patients are read consent terms aloud in their vernacular language. Audio alone is not considered valid—a mandatory physical touch confirmation on the kiosk screen is recorded.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99432"/>
            <a:ext cx="101800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2540"/>
                </a:solidFill>
              </a:defRPr>
            </a:pPr>
            <a:r>
              <a:t>• Zero-Knowledge Media Purge: </a:t>
            </a:r>
            <a:r>
              <a:rPr sz="1050" b="0">
                <a:solidFill>
                  <a:srgbClr val="475569"/>
                </a:solidFill>
              </a:rPr>
              <a:t>Under strict data minimization principles, raw voice waveforms and prescription camera photos are processed in-memory and permanently purged after clinical text extraction.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38344"/>
            <a:ext cx="101800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2540"/>
                </a:solidFill>
              </a:defRPr>
            </a:pPr>
            <a:r>
              <a:t>• Immutable SHA-256 Audit Trail: </a:t>
            </a:r>
            <a:r>
              <a:rPr sz="1050" b="0">
                <a:solidFill>
                  <a:srgbClr val="475569"/>
                </a:solidFill>
              </a:rPr>
              <a:t>All doctor modifications to AI-drafted triage notes and patient consent authorizations are logged into tamper-proof PostgreSQL audit tables with millisecond timestamps.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77256"/>
            <a:ext cx="101800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A2540"/>
                </a:solidFill>
              </a:defRPr>
            </a:pPr>
            <a:r>
              <a:t>• National Standards Interoperability: </a:t>
            </a:r>
            <a:r>
              <a:rPr sz="1050" b="0">
                <a:solidFill>
                  <a:srgbClr val="475569"/>
                </a:solidFill>
              </a:rPr>
              <a:t>Full compliance with Ayushman Bharat Digital Mission (ABDM) specifications, ensuring cross-hospital portability across any compliant Indian healthcare provider.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