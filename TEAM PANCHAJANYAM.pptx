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9"/>
  </p:notesMasterIdLst>
  <p:sldIdLst>
    <p:sldId id="291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B43"/>
    <a:srgbClr val="D98E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3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49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8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5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9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7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2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1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0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6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6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9.svg"/><Relationship Id="rId4" Type="http://schemas.openxmlformats.org/officeDocument/2006/relationships/image" Target="../media/image4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10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18753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SAMANVAYA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b="1" i="1" dirty="0">
                <a:solidFill>
                  <a:srgbClr val="B56A1E"/>
                </a:solidFill>
                <a:latin typeface="Arial"/>
              </a:rPr>
              <a:t>C</a:t>
            </a:r>
            <a:r>
              <a:rPr lang="en-IN" sz="2000" b="1" i="1" dirty="0" err="1">
                <a:solidFill>
                  <a:srgbClr val="B56A1E"/>
                </a:solidFill>
                <a:latin typeface="Arial"/>
              </a:rPr>
              <a:t>ollect</a:t>
            </a:r>
            <a:r>
              <a:rPr sz="2000" b="1" i="1" dirty="0">
                <a:solidFill>
                  <a:srgbClr val="B56A1E"/>
                </a:solidFill>
                <a:latin typeface="Arial"/>
              </a:rPr>
              <a:t>.  Connect.  Cure.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58873"/>
            <a:ext cx="5924550" cy="473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ID –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 SIH26047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Title-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 Patient Case-Taking Software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Theme-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 MedTech /</a:t>
            </a:r>
            <a:r>
              <a:rPr kumimoji="0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BioTech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 / HealthTech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PS Category-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  Software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Team ID-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Team Name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: Team </a:t>
            </a:r>
            <a:r>
              <a:rPr kumimoji="0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Arial"/>
                <a:ea typeface="ＭＳ Ｐゴシック" pitchFamily="1" charset="-128"/>
                <a:cs typeface="+mn-cs"/>
              </a:rPr>
              <a:t>Panchajanyam</a:t>
            </a:r>
            <a:endParaRPr kumimoji="0" lang="en-I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21792" y="1084320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 txBox="1">
            <a:spLocks/>
          </p:cNvSpPr>
          <p:nvPr/>
        </p:nvSpPr>
        <p:spPr>
          <a:xfrm>
            <a:off x="524256" y="1057421"/>
            <a:ext cx="11155680" cy="159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3-portal software platform (Patient Portal, OPD Kisok &amp; Doctor-Staff Suite) that lets any patient build a complete medical history through voice and touch in 22 – Indian local languages, digitize their existing documents, and hand the doctor a ready, structured case sheet — before the consultation even begins.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3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 Autonomous Floating NLP AI Assistant that provides end-to-end application guidance, evaluating eligible govt schemes, calculating 80%+ Jan </a:t>
            </a:r>
            <a:r>
              <a:rPr lang="en-US" sz="1300" i="1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Aushadhi</a:t>
            </a:r>
            <a:r>
              <a:rPr lang="en-US" sz="13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generic savings and enforcing strict patient data privacy and safety via Govt ABDM Sandbox Integration</a:t>
            </a:r>
            <a:endParaRPr lang="en-IN" sz="1300" dirty="0"/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B964622E-D1D3-CFC6-36F0-793BDAAD905E}"/>
              </a:ext>
            </a:extLst>
          </p:cNvPr>
          <p:cNvGrpSpPr/>
          <p:nvPr/>
        </p:nvGrpSpPr>
        <p:grpSpPr>
          <a:xfrm>
            <a:off x="470636" y="2557745"/>
            <a:ext cx="11247400" cy="4360108"/>
            <a:chOff x="556240" y="2388164"/>
            <a:chExt cx="11247400" cy="4360108"/>
          </a:xfrm>
        </p:grpSpPr>
        <p:sp>
          <p:nvSpPr>
            <p:cNvPr id="10" name="Text 8"/>
            <p:cNvSpPr txBox="1">
              <a:spLocks/>
            </p:cNvSpPr>
            <p:nvPr/>
          </p:nvSpPr>
          <p:spPr>
            <a:xfrm>
              <a:off x="788168" y="2551005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150" dirty="0">
                  <a:solidFill>
                    <a:srgbClr val="0E4B4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IT DOES</a:t>
              </a:r>
              <a:endParaRPr lang="en-US" sz="1200" dirty="0"/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D7C5EC5-9D0E-014D-75AD-F32B17F165C1}"/>
                </a:ext>
              </a:extLst>
            </p:cNvPr>
            <p:cNvGrpSpPr/>
            <p:nvPr/>
          </p:nvGrpSpPr>
          <p:grpSpPr>
            <a:xfrm>
              <a:off x="556240" y="2388164"/>
              <a:ext cx="11247400" cy="4360108"/>
              <a:chOff x="556240" y="2388164"/>
              <a:chExt cx="11247400" cy="4360108"/>
            </a:xfrm>
          </p:grpSpPr>
          <p:sp>
            <p:nvSpPr>
              <p:cNvPr id="21" name="Text 16"/>
              <p:cNvSpPr txBox="1">
                <a:spLocks/>
              </p:cNvSpPr>
              <p:nvPr/>
            </p:nvSpPr>
            <p:spPr>
              <a:xfrm>
                <a:off x="1202696" y="4828032"/>
                <a:ext cx="512064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A2E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Structured Case Summary</a:t>
                </a:r>
                <a:endParaRPr lang="en-US" sz="1300" dirty="0"/>
              </a:p>
            </p:txBody>
          </p: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F86F53BB-DEA9-6479-C36B-A0957AC244C2}"/>
                  </a:ext>
                </a:extLst>
              </p:cNvPr>
              <p:cNvGrpSpPr/>
              <p:nvPr/>
            </p:nvGrpSpPr>
            <p:grpSpPr>
              <a:xfrm>
                <a:off x="556240" y="2388164"/>
                <a:ext cx="11247400" cy="4360108"/>
                <a:chOff x="556240" y="2388164"/>
                <a:chExt cx="11247400" cy="4360108"/>
              </a:xfrm>
            </p:grpSpPr>
            <p:sp>
              <p:nvSpPr>
                <p:cNvPr id="8" name="Text 6"/>
                <p:cNvSpPr txBox="1">
                  <a:spLocks/>
                </p:cNvSpPr>
                <p:nvPr/>
              </p:nvSpPr>
              <p:spPr>
                <a:xfrm>
                  <a:off x="11521440" y="6473952"/>
                  <a:ext cx="27432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endParaRPr lang="en-US" sz="900" dirty="0"/>
                </a:p>
              </p:txBody>
            </p:sp>
            <p:sp>
              <p:nvSpPr>
                <p:cNvPr id="11" name="Shape 9"/>
                <p:cNvSpPr>
                  <a:spLocks/>
                </p:cNvSpPr>
                <p:nvPr/>
              </p:nvSpPr>
              <p:spPr>
                <a:xfrm>
                  <a:off x="559568" y="3063240"/>
                  <a:ext cx="457200" cy="457200"/>
                </a:xfrm>
                <a:prstGeom prst="ellipse">
                  <a:avLst/>
                </a:prstGeom>
                <a:solidFill>
                  <a:srgbClr val="0E4B43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pic>
              <p:nvPicPr>
                <p:cNvPr id="12" name="Image 0" descr="/home/claude/samanvaya/icons/mic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8440" y="3202161"/>
                  <a:ext cx="219456" cy="219456"/>
                </a:xfrm>
                <a:prstGeom prst="rect">
                  <a:avLst/>
                </a:prstGeom>
              </p:spPr>
            </p:pic>
            <p:sp>
              <p:nvSpPr>
                <p:cNvPr id="13" name="Text 10"/>
                <p:cNvSpPr txBox="1">
                  <a:spLocks/>
                </p:cNvSpPr>
                <p:nvPr/>
              </p:nvSpPr>
              <p:spPr>
                <a:xfrm>
                  <a:off x="1173480" y="3027469"/>
                  <a:ext cx="51206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Voice + Touch History Intake</a:t>
                  </a:r>
                  <a:endParaRPr lang="en-US" sz="1300" dirty="0"/>
                </a:p>
              </p:txBody>
            </p:sp>
            <p:sp>
              <p:nvSpPr>
                <p:cNvPr id="14" name="Text 11"/>
                <p:cNvSpPr txBox="1">
                  <a:spLocks/>
                </p:cNvSpPr>
                <p:nvPr/>
              </p:nvSpPr>
              <p:spPr>
                <a:xfrm>
                  <a:off x="1178944" y="3310128"/>
                  <a:ext cx="4797506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Guided Symptom questioning in 22 Languages, plus a dedicated AYUSH </a:t>
                  </a:r>
                  <a:r>
                    <a:rPr lang="en-US" sz="1100" dirty="0" err="1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Dashavidha</a:t>
                  </a: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Pariksha mode for Ayurvedic OPDs.</a:t>
                  </a:r>
                  <a:endParaRPr lang="en-US" sz="1100" dirty="0"/>
                </a:p>
              </p:txBody>
            </p:sp>
            <p:sp>
              <p:nvSpPr>
                <p:cNvPr id="15" name="Shape 12"/>
                <p:cNvSpPr>
                  <a:spLocks/>
                </p:cNvSpPr>
                <p:nvPr/>
              </p:nvSpPr>
              <p:spPr>
                <a:xfrm>
                  <a:off x="556240" y="4003262"/>
                  <a:ext cx="457200" cy="457200"/>
                </a:xfrm>
                <a:prstGeom prst="ellipse">
                  <a:avLst/>
                </a:prstGeom>
                <a:solidFill>
                  <a:srgbClr val="0E4B43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pic>
              <p:nvPicPr>
                <p:cNvPr id="16" name="Image 1" descr="/home/claude/samanvaya/icons/filetext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5112" y="4122134"/>
                  <a:ext cx="219456" cy="219456"/>
                </a:xfrm>
                <a:prstGeom prst="rect">
                  <a:avLst/>
                </a:prstGeom>
              </p:spPr>
            </p:pic>
            <p:sp>
              <p:nvSpPr>
                <p:cNvPr id="17" name="Text 13"/>
                <p:cNvSpPr txBox="1">
                  <a:spLocks/>
                </p:cNvSpPr>
                <p:nvPr/>
              </p:nvSpPr>
              <p:spPr>
                <a:xfrm>
                  <a:off x="1190504" y="3995757"/>
                  <a:ext cx="51206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Document Digitization</a:t>
                  </a:r>
                  <a:endParaRPr lang="en-US" sz="1300" dirty="0"/>
                </a:p>
              </p:txBody>
            </p:sp>
            <p:sp>
              <p:nvSpPr>
                <p:cNvPr id="18" name="Text 14"/>
                <p:cNvSpPr txBox="1">
                  <a:spLocks/>
                </p:cNvSpPr>
                <p:nvPr/>
              </p:nvSpPr>
              <p:spPr>
                <a:xfrm>
                  <a:off x="1202696" y="4245476"/>
                  <a:ext cx="4715139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Reads handwritten prescriptions through </a:t>
                  </a:r>
                  <a:r>
                    <a:rPr lang="en-US" sz="1100" dirty="0" err="1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MultiOCR</a:t>
                  </a: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, lab reports and discharge summaries, then auto-dates them into one chronological timeline and links it with ABHA ID.</a:t>
                  </a:r>
                  <a:endParaRPr lang="en-US" sz="1100" dirty="0"/>
                </a:p>
              </p:txBody>
            </p:sp>
            <p:sp>
              <p:nvSpPr>
                <p:cNvPr id="19" name="Shape 15"/>
                <p:cNvSpPr>
                  <a:spLocks/>
                </p:cNvSpPr>
                <p:nvPr/>
              </p:nvSpPr>
              <p:spPr>
                <a:xfrm>
                  <a:off x="556240" y="4828398"/>
                  <a:ext cx="457200" cy="457200"/>
                </a:xfrm>
                <a:prstGeom prst="ellipse">
                  <a:avLst/>
                </a:prstGeom>
                <a:solidFill>
                  <a:srgbClr val="0E4B43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pic>
              <p:nvPicPr>
                <p:cNvPr id="20" name="Image 2" descr="/home/claude/samanvaya/icons/checksquare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12" y="4947270"/>
                  <a:ext cx="219456" cy="219456"/>
                </a:xfrm>
                <a:prstGeom prst="rect">
                  <a:avLst/>
                </a:prstGeom>
              </p:spPr>
            </p:pic>
            <p:sp>
              <p:nvSpPr>
                <p:cNvPr id="22" name="Text 17"/>
                <p:cNvSpPr txBox="1">
                  <a:spLocks/>
                </p:cNvSpPr>
                <p:nvPr/>
              </p:nvSpPr>
              <p:spPr>
                <a:xfrm>
                  <a:off x="1202696" y="5111496"/>
                  <a:ext cx="4773754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Builds a physician-ready Chief Complaint → HPI → History → ROS draft the doctor edits and confirms in seconds.</a:t>
                  </a:r>
                  <a:endParaRPr lang="en-US" sz="1100" dirty="0"/>
                </a:p>
              </p:txBody>
            </p:sp>
            <p:sp>
              <p:nvSpPr>
                <p:cNvPr id="23" name="Shape 18"/>
                <p:cNvSpPr>
                  <a:spLocks/>
                </p:cNvSpPr>
                <p:nvPr/>
              </p:nvSpPr>
              <p:spPr>
                <a:xfrm>
                  <a:off x="556240" y="5724510"/>
                  <a:ext cx="457200" cy="457200"/>
                </a:xfrm>
                <a:prstGeom prst="ellipse">
                  <a:avLst/>
                </a:prstGeom>
                <a:solidFill>
                  <a:srgbClr val="0E4B43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sp>
              <p:nvSpPr>
                <p:cNvPr id="25" name="Text 19"/>
                <p:cNvSpPr txBox="1">
                  <a:spLocks/>
                </p:cNvSpPr>
                <p:nvPr/>
              </p:nvSpPr>
              <p:spPr>
                <a:xfrm>
                  <a:off x="1178944" y="5751576"/>
                  <a:ext cx="51206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30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Govt ABHA &amp; Privacy via ABDM</a:t>
                  </a:r>
                  <a:endParaRPr lang="en-US" sz="1300" dirty="0"/>
                </a:p>
              </p:txBody>
            </p:sp>
            <p:sp>
              <p:nvSpPr>
                <p:cNvPr id="26" name="Text 20"/>
                <p:cNvSpPr txBox="1">
                  <a:spLocks/>
                </p:cNvSpPr>
                <p:nvPr/>
              </p:nvSpPr>
              <p:spPr>
                <a:xfrm>
                  <a:off x="1178944" y="6035040"/>
                  <a:ext cx="4938183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Secures patient data under strict privacy laws, creates and links to ABHA IDs, and syncs directly with hospital software</a:t>
                  </a:r>
                  <a:endParaRPr lang="en-US" sz="1100" dirty="0"/>
                </a:p>
              </p:txBody>
            </p:sp>
            <p:sp>
              <p:nvSpPr>
                <p:cNvPr id="27" name="Shape 21"/>
                <p:cNvSpPr>
                  <a:spLocks/>
                </p:cNvSpPr>
                <p:nvPr/>
              </p:nvSpPr>
              <p:spPr>
                <a:xfrm>
                  <a:off x="6518408" y="2388164"/>
                  <a:ext cx="5285232" cy="4106266"/>
                </a:xfrm>
                <a:prstGeom prst="roundRect">
                  <a:avLst>
                    <a:gd name="adj" fmla="val 1290"/>
                  </a:avLst>
                </a:prstGeom>
                <a:solidFill>
                  <a:srgbClr val="F6F7F5"/>
                </a:solidFill>
                <a:ln/>
              </p:spPr>
            </p:sp>
            <p:sp>
              <p:nvSpPr>
                <p:cNvPr id="28" name="Text 22"/>
                <p:cNvSpPr txBox="1">
                  <a:spLocks/>
                </p:cNvSpPr>
                <p:nvPr/>
              </p:nvSpPr>
              <p:spPr>
                <a:xfrm>
                  <a:off x="6928364" y="2535078"/>
                  <a:ext cx="47548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00" b="1" kern="0" spc="150" dirty="0">
                      <a:solidFill>
                        <a:srgbClr val="D98E04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WHERE SAMANVAYA GOES FURTHER</a:t>
                  </a:r>
                  <a:endParaRPr lang="en-US" sz="1200" dirty="0"/>
                </a:p>
              </p:txBody>
            </p:sp>
            <p:sp>
              <p:nvSpPr>
                <p:cNvPr id="29" name="Shape 23"/>
                <p:cNvSpPr>
                  <a:spLocks/>
                </p:cNvSpPr>
                <p:nvPr/>
              </p:nvSpPr>
              <p:spPr>
                <a:xfrm>
                  <a:off x="6675120" y="3063240"/>
                  <a:ext cx="420624" cy="420624"/>
                </a:xfrm>
                <a:prstGeom prst="ellipse">
                  <a:avLst/>
                </a:prstGeom>
                <a:solidFill>
                  <a:srgbClr val="D98E04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sp>
              <p:nvSpPr>
                <p:cNvPr id="31" name="Text 24"/>
                <p:cNvSpPr txBox="1">
                  <a:spLocks/>
                </p:cNvSpPr>
                <p:nvPr/>
              </p:nvSpPr>
              <p:spPr>
                <a:xfrm>
                  <a:off x="7264023" y="3042518"/>
                  <a:ext cx="42519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Autonomous Floating Assistant</a:t>
                  </a:r>
                  <a:endParaRPr lang="en-US" sz="1250" dirty="0"/>
                </a:p>
              </p:txBody>
            </p:sp>
            <p:sp>
              <p:nvSpPr>
                <p:cNvPr id="32" name="Text 25"/>
                <p:cNvSpPr txBox="1">
                  <a:spLocks/>
                </p:cNvSpPr>
                <p:nvPr/>
              </p:nvSpPr>
              <p:spPr>
                <a:xfrm>
                  <a:off x="7257934" y="3317933"/>
                  <a:ext cx="42976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Auto-fills medical forms free hand, switches app portals via voice, and provides end-to-end guidance throughout the platform</a:t>
                  </a:r>
                  <a:endParaRPr lang="en-US" sz="1100" dirty="0"/>
                </a:p>
              </p:txBody>
            </p:sp>
            <p:sp>
              <p:nvSpPr>
                <p:cNvPr id="33" name="Shape 26"/>
                <p:cNvSpPr>
                  <a:spLocks/>
                </p:cNvSpPr>
                <p:nvPr/>
              </p:nvSpPr>
              <p:spPr>
                <a:xfrm>
                  <a:off x="6675120" y="3959352"/>
                  <a:ext cx="420624" cy="420624"/>
                </a:xfrm>
                <a:prstGeom prst="ellipse">
                  <a:avLst/>
                </a:prstGeom>
                <a:solidFill>
                  <a:srgbClr val="D98E04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sp>
              <p:nvSpPr>
                <p:cNvPr id="35" name="Text 27"/>
                <p:cNvSpPr txBox="1">
                  <a:spLocks/>
                </p:cNvSpPr>
                <p:nvPr/>
              </p:nvSpPr>
              <p:spPr>
                <a:xfrm>
                  <a:off x="7269480" y="3931920"/>
                  <a:ext cx="42519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Govt Schemes &amp; JAN </a:t>
                  </a:r>
                  <a:r>
                    <a:rPr lang="en-US" sz="1250" b="1" dirty="0" err="1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Aushadhi</a:t>
                  </a:r>
                  <a:r>
                    <a:rPr lang="en-US" sz="125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Savings</a:t>
                  </a:r>
                  <a:endParaRPr lang="en-US" sz="1250" dirty="0"/>
                </a:p>
              </p:txBody>
            </p:sp>
            <p:sp>
              <p:nvSpPr>
                <p:cNvPr id="36" name="Text 28"/>
                <p:cNvSpPr txBox="1">
                  <a:spLocks/>
                </p:cNvSpPr>
                <p:nvPr/>
              </p:nvSpPr>
              <p:spPr>
                <a:xfrm>
                  <a:off x="7269480" y="4206240"/>
                  <a:ext cx="42976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Guides patients and families step-by-step to claim eligible Govt Health (both Central &amp; State Govt) Schemes, promotes generic medicine with estimated costs &amp; locates nearest Jan </a:t>
                  </a:r>
                  <a:r>
                    <a:rPr lang="en-US" sz="1100" dirty="0" err="1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Aushadhi</a:t>
                  </a: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r>
                    <a:rPr lang="en-US" sz="1100" dirty="0" err="1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kendras</a:t>
                  </a: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, </a:t>
                  </a:r>
                  <a:endParaRPr lang="en-US" sz="1100" dirty="0"/>
                </a:p>
              </p:txBody>
            </p:sp>
            <p:sp>
              <p:nvSpPr>
                <p:cNvPr id="37" name="Shape 29"/>
                <p:cNvSpPr>
                  <a:spLocks/>
                </p:cNvSpPr>
                <p:nvPr/>
              </p:nvSpPr>
              <p:spPr>
                <a:xfrm>
                  <a:off x="6675120" y="4855464"/>
                  <a:ext cx="420624" cy="420624"/>
                </a:xfrm>
                <a:prstGeom prst="ellipse">
                  <a:avLst/>
                </a:prstGeom>
                <a:solidFill>
                  <a:srgbClr val="D98E04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sp>
              <p:nvSpPr>
                <p:cNvPr id="39" name="Text 30"/>
                <p:cNvSpPr txBox="1">
                  <a:spLocks/>
                </p:cNvSpPr>
                <p:nvPr/>
              </p:nvSpPr>
              <p:spPr>
                <a:xfrm>
                  <a:off x="7269480" y="4828032"/>
                  <a:ext cx="42519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Unified 3-Portal Ecosystem</a:t>
                  </a:r>
                  <a:endParaRPr lang="en-US" sz="1250" dirty="0"/>
                </a:p>
              </p:txBody>
            </p:sp>
            <p:sp>
              <p:nvSpPr>
                <p:cNvPr id="40" name="Text 31"/>
                <p:cNvSpPr txBox="1">
                  <a:spLocks/>
                </p:cNvSpPr>
                <p:nvPr/>
              </p:nvSpPr>
              <p:spPr>
                <a:xfrm>
                  <a:off x="7269480" y="5102352"/>
                  <a:ext cx="42976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Seamlessly connects Patient portal, OPD Kisok &amp; Doctor-Staff suite so patient data flows instantly into Physician workflows </a:t>
                  </a:r>
                  <a:endParaRPr lang="en-US" sz="1100" dirty="0"/>
                </a:p>
              </p:txBody>
            </p:sp>
            <p:sp>
              <p:nvSpPr>
                <p:cNvPr id="41" name="Shape 32"/>
                <p:cNvSpPr>
                  <a:spLocks/>
                </p:cNvSpPr>
                <p:nvPr/>
              </p:nvSpPr>
              <p:spPr>
                <a:xfrm>
                  <a:off x="6675120" y="5751576"/>
                  <a:ext cx="420624" cy="420624"/>
                </a:xfrm>
                <a:prstGeom prst="ellipse">
                  <a:avLst/>
                </a:prstGeom>
                <a:solidFill>
                  <a:srgbClr val="D98E04"/>
                </a:solidFill>
                <a:ln/>
                <a:effectLst>
                  <a:outerShdw blurRad="76200" dist="25400" dir="5400000" algn="bl" rotWithShape="0">
                    <a:srgbClr val="1A2E2B">
                      <a:alpha val="18000"/>
                    </a:srgbClr>
                  </a:outerShdw>
                </a:effectLst>
              </p:spPr>
            </p:sp>
            <p:sp>
              <p:nvSpPr>
                <p:cNvPr id="43" name="Text 33"/>
                <p:cNvSpPr txBox="1">
                  <a:spLocks/>
                </p:cNvSpPr>
                <p:nvPr/>
              </p:nvSpPr>
              <p:spPr>
                <a:xfrm>
                  <a:off x="7269480" y="5724144"/>
                  <a:ext cx="425196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1A2E2B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Clinical Safety, Privacy Edge AI Net</a:t>
                  </a:r>
                  <a:endParaRPr lang="en-US" sz="1250" dirty="0"/>
                </a:p>
              </p:txBody>
            </p:sp>
            <p:sp>
              <p:nvSpPr>
                <p:cNvPr id="44" name="Text 34"/>
                <p:cNvSpPr txBox="1">
                  <a:spLocks/>
                </p:cNvSpPr>
                <p:nvPr/>
              </p:nvSpPr>
              <p:spPr>
                <a:xfrm>
                  <a:off x="7269480" y="5998464"/>
                  <a:ext cx="4297680" cy="5943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Integrates Herb-Drug polypharmacy checks, WHO AWARE antibiotic audits,</a:t>
                  </a:r>
                </a:p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5C6B6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Vernacular audio dosage guidance, offline Edge syncing during internet blackouts.</a:t>
                  </a:r>
                  <a:endParaRPr lang="en-US" sz="1100" dirty="0"/>
                </a:p>
              </p:txBody>
            </p:sp>
          </p:grpSp>
        </p:grpSp>
      </p:grpSp>
      <p:sp>
        <p:nvSpPr>
          <p:cNvPr id="45" name="Oval 44" descr="Your startup LOGO">
            <a:extLst>
              <a:ext uri="{FF2B5EF4-FFF2-40B4-BE49-F238E27FC236}">
                <a16:creationId xmlns:a16="http://schemas.microsoft.com/office/drawing/2014/main" id="{ACA98749-A316-6C7B-7D65-47C76797AA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6551" y="161445"/>
            <a:ext cx="1251857" cy="80733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Panchajanyam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A421A4B-5F81-DC33-DBE8-7FB9C4909A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A377E8C2-19BD-8EE8-0D0F-B1728823B036}"/>
              </a:ext>
            </a:extLst>
          </p:cNvPr>
          <p:cNvSpPr txBox="1"/>
          <p:nvPr/>
        </p:nvSpPr>
        <p:spPr>
          <a:xfrm>
            <a:off x="2247372" y="-271364"/>
            <a:ext cx="6428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  <a:endParaRPr lang="en-IN" dirty="0"/>
          </a:p>
        </p:txBody>
      </p:sp>
      <p:pic>
        <p:nvPicPr>
          <p:cNvPr id="279" name="Graphic 278" descr="Robot with solid fill">
            <a:extLst>
              <a:ext uri="{FF2B5EF4-FFF2-40B4-BE49-F238E27FC236}">
                <a16:creationId xmlns:a16="http://schemas.microsoft.com/office/drawing/2014/main" id="{D40BEF20-F70C-A144-DE25-8399E68F3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6149" y="3285893"/>
            <a:ext cx="307357" cy="307357"/>
          </a:xfrm>
          <a:prstGeom prst="rect">
            <a:avLst/>
          </a:prstGeom>
        </p:spPr>
      </p:pic>
      <p:pic>
        <p:nvPicPr>
          <p:cNvPr id="282" name="Graphic 281" descr="Money with solid fill">
            <a:extLst>
              <a:ext uri="{FF2B5EF4-FFF2-40B4-BE49-F238E27FC236}">
                <a16:creationId xmlns:a16="http://schemas.microsoft.com/office/drawing/2014/main" id="{5F9EE4E0-143D-2851-F0E7-D92BD5F5F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3702" y="4202097"/>
            <a:ext cx="250306" cy="250306"/>
          </a:xfrm>
          <a:prstGeom prst="rect">
            <a:avLst/>
          </a:prstGeom>
        </p:spPr>
      </p:pic>
      <p:pic>
        <p:nvPicPr>
          <p:cNvPr id="284" name="Graphic 283" descr="Internet with solid fill">
            <a:extLst>
              <a:ext uri="{FF2B5EF4-FFF2-40B4-BE49-F238E27FC236}">
                <a16:creationId xmlns:a16="http://schemas.microsoft.com/office/drawing/2014/main" id="{5B9D5E27-DFA9-3E36-009F-9C6BC3646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1622" y="5100541"/>
            <a:ext cx="269631" cy="269631"/>
          </a:xfrm>
          <a:prstGeom prst="rect">
            <a:avLst/>
          </a:prstGeom>
        </p:spPr>
      </p:pic>
      <p:pic>
        <p:nvPicPr>
          <p:cNvPr id="286" name="Graphic 285" descr="Connections with solid fill">
            <a:extLst>
              <a:ext uri="{FF2B5EF4-FFF2-40B4-BE49-F238E27FC236}">
                <a16:creationId xmlns:a16="http://schemas.microsoft.com/office/drawing/2014/main" id="{C626A192-06D8-5506-8CC0-8DD4DF1C2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4815" y="5974250"/>
            <a:ext cx="314438" cy="314438"/>
          </a:xfrm>
          <a:prstGeom prst="rect">
            <a:avLst/>
          </a:prstGeom>
        </p:spPr>
      </p:pic>
      <p:pic>
        <p:nvPicPr>
          <p:cNvPr id="288" name="Graphic 287" descr="Checkmark with solid fill">
            <a:extLst>
              <a:ext uri="{FF2B5EF4-FFF2-40B4-BE49-F238E27FC236}">
                <a16:creationId xmlns:a16="http://schemas.microsoft.com/office/drawing/2014/main" id="{8CE9CE3E-867D-F1C7-FB01-D8BDD393A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55274" y="6002709"/>
            <a:ext cx="285979" cy="2859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8">
            <a:extLst>
              <a:ext uri="{FF2B5EF4-FFF2-40B4-BE49-F238E27FC236}">
                <a16:creationId xmlns:a16="http://schemas.microsoft.com/office/drawing/2014/main" id="{4514F990-EA29-8CD3-7652-96A7777165DD}"/>
              </a:ext>
            </a:extLst>
          </p:cNvPr>
          <p:cNvSpPr/>
          <p:nvPr/>
        </p:nvSpPr>
        <p:spPr>
          <a:xfrm>
            <a:off x="9835642" y="3475469"/>
            <a:ext cx="1833372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8" name="Shape 8">
            <a:extLst>
              <a:ext uri="{FF2B5EF4-FFF2-40B4-BE49-F238E27FC236}">
                <a16:creationId xmlns:a16="http://schemas.microsoft.com/office/drawing/2014/main" id="{C1748741-BFA7-C9CC-9BB2-DE6481B6CF49}"/>
              </a:ext>
            </a:extLst>
          </p:cNvPr>
          <p:cNvSpPr/>
          <p:nvPr/>
        </p:nvSpPr>
        <p:spPr>
          <a:xfrm>
            <a:off x="5179314" y="3467683"/>
            <a:ext cx="1833372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5" name="Shape 8">
            <a:extLst>
              <a:ext uri="{FF2B5EF4-FFF2-40B4-BE49-F238E27FC236}">
                <a16:creationId xmlns:a16="http://schemas.microsoft.com/office/drawing/2014/main" id="{42812AE1-1218-CE71-B5E1-2AA15A66F40A}"/>
              </a:ext>
            </a:extLst>
          </p:cNvPr>
          <p:cNvSpPr/>
          <p:nvPr/>
        </p:nvSpPr>
        <p:spPr>
          <a:xfrm>
            <a:off x="2880360" y="3462854"/>
            <a:ext cx="1833372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04444" y="115097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34130" y="204281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kern="0" spc="15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PATIENT JOURNEY</a:t>
            </a:r>
            <a:endParaRPr lang="en-US" sz="1600" u="sng" dirty="0"/>
          </a:p>
        </p:txBody>
      </p:sp>
      <p:sp>
        <p:nvSpPr>
          <p:cNvPr id="10" name="Shape 8"/>
          <p:cNvSpPr/>
          <p:nvPr/>
        </p:nvSpPr>
        <p:spPr>
          <a:xfrm>
            <a:off x="502920" y="1762564"/>
            <a:ext cx="1833372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569214" y="1210196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12" name="Image 0" descr="/home/claude/samanvaya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51" y="1343333"/>
            <a:ext cx="245791" cy="24579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26771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69214" y="1325437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51585" y="1844732"/>
            <a:ext cx="1336415" cy="22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400" b="1" dirty="0"/>
          </a:p>
        </p:txBody>
      </p:sp>
      <p:sp>
        <p:nvSpPr>
          <p:cNvPr id="18" name="Shape 15"/>
          <p:cNvSpPr/>
          <p:nvPr/>
        </p:nvSpPr>
        <p:spPr>
          <a:xfrm>
            <a:off x="3517392" y="2658330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4399847" y="30920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808732" y="3191256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OCR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3073908" y="3651076"/>
            <a:ext cx="1531180" cy="10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OCR digitize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handwritten records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multilingual support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Bhashini API +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v2 OCR</a:t>
            </a:r>
          </a:p>
        </p:txBody>
      </p:sp>
      <p:sp>
        <p:nvSpPr>
          <p:cNvPr id="25" name="Shape 21"/>
          <p:cNvSpPr/>
          <p:nvPr/>
        </p:nvSpPr>
        <p:spPr>
          <a:xfrm>
            <a:off x="5819648" y="2625824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829806" y="30920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282184" y="3190569"/>
            <a:ext cx="1596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Architecture LLM</a:t>
            </a:r>
          </a:p>
        </p:txBody>
      </p:sp>
      <p:sp>
        <p:nvSpPr>
          <p:cNvPr id="29" name="Text 24"/>
          <p:cNvSpPr txBox="1"/>
          <p:nvPr/>
        </p:nvSpPr>
        <p:spPr>
          <a:xfrm>
            <a:off x="5460111" y="3677176"/>
            <a:ext cx="1271778" cy="1091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0513740" y="2624284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028897" y="312882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9796566" y="3168271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&amp; Savings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8173933" y="2630743"/>
            <a:ext cx="512064" cy="512064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40" name="Image 4" descr="/home/claude/samanvaya/icons/user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070" y="2763880"/>
            <a:ext cx="245791" cy="245791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1436604" y="315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7465273" y="318489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250" dirty="0"/>
          </a:p>
        </p:txBody>
      </p:sp>
      <p:sp>
        <p:nvSpPr>
          <p:cNvPr id="43" name="Text 36"/>
          <p:cNvSpPr txBox="1"/>
          <p:nvPr/>
        </p:nvSpPr>
        <p:spPr>
          <a:xfrm>
            <a:off x="9976784" y="3711955"/>
            <a:ext cx="1585974" cy="137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Scheme Eligibility engine, JAN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Aushadhi</a:t>
            </a:r>
            <a:endParaRPr lang="en-US" sz="1200" dirty="0">
              <a:solidFill>
                <a:srgbClr val="5C6B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cost estimate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locator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TTS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4766E0-5F23-5EC1-530D-8FBBC7AFDD0E}"/>
              </a:ext>
            </a:extLst>
          </p:cNvPr>
          <p:cNvSpPr txBox="1"/>
          <p:nvPr/>
        </p:nvSpPr>
        <p:spPr>
          <a:xfrm>
            <a:off x="2758440" y="2560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A0712EC-260F-01B4-5000-2E2AF9DCF3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3" name="Oval 72" descr="Your startup LOGO">
            <a:extLst>
              <a:ext uri="{FF2B5EF4-FFF2-40B4-BE49-F238E27FC236}">
                <a16:creationId xmlns:a16="http://schemas.microsoft.com/office/drawing/2014/main" id="{BA66ACB1-E12A-90DF-7975-E3E4EC2B05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6551" y="161445"/>
            <a:ext cx="1251857" cy="80733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Panchajanyam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Shape 13">
            <a:extLst>
              <a:ext uri="{FF2B5EF4-FFF2-40B4-BE49-F238E27FC236}">
                <a16:creationId xmlns:a16="http://schemas.microsoft.com/office/drawing/2014/main" id="{257388B4-56B4-7061-92C6-5DCAAD316B12}"/>
              </a:ext>
            </a:extLst>
          </p:cNvPr>
          <p:cNvSpPr/>
          <p:nvPr/>
        </p:nvSpPr>
        <p:spPr>
          <a:xfrm rot="10800000">
            <a:off x="886968" y="3300358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C7A1C37F-44A0-39B2-BB65-405514C41AFC}"/>
              </a:ext>
            </a:extLst>
          </p:cNvPr>
          <p:cNvSpPr/>
          <p:nvPr/>
        </p:nvSpPr>
        <p:spPr>
          <a:xfrm rot="10800000">
            <a:off x="813816" y="5015888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100" name="Shape 13">
            <a:extLst>
              <a:ext uri="{FF2B5EF4-FFF2-40B4-BE49-F238E27FC236}">
                <a16:creationId xmlns:a16="http://schemas.microsoft.com/office/drawing/2014/main" id="{12C060A0-FD7C-968C-A0AF-CD3AF01E693C}"/>
              </a:ext>
            </a:extLst>
          </p:cNvPr>
          <p:cNvSpPr/>
          <p:nvPr/>
        </p:nvSpPr>
        <p:spPr>
          <a:xfrm>
            <a:off x="1760220" y="3291606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777ACBC1-7A16-DB20-6C1A-59FA1DC7810A}"/>
              </a:ext>
            </a:extLst>
          </p:cNvPr>
          <p:cNvSpPr/>
          <p:nvPr/>
        </p:nvSpPr>
        <p:spPr>
          <a:xfrm>
            <a:off x="1802759" y="5010520"/>
            <a:ext cx="146304" cy="201168"/>
          </a:xfrm>
          <a:prstGeom prst="triangle">
            <a:avLst/>
          </a:prstGeom>
          <a:solidFill>
            <a:srgbClr val="D98E04"/>
          </a:solidFill>
          <a:ln/>
        </p:spPr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752DFBFA-24DC-7EF1-386D-FE396A089CDC}"/>
              </a:ext>
            </a:extLst>
          </p:cNvPr>
          <p:cNvSpPr/>
          <p:nvPr/>
        </p:nvSpPr>
        <p:spPr>
          <a:xfrm>
            <a:off x="484632" y="3487126"/>
            <a:ext cx="1851660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E422A889-660C-36F5-4E8C-F36F8D69051D}"/>
              </a:ext>
            </a:extLst>
          </p:cNvPr>
          <p:cNvSpPr/>
          <p:nvPr/>
        </p:nvSpPr>
        <p:spPr>
          <a:xfrm>
            <a:off x="484632" y="5193792"/>
            <a:ext cx="1851660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80939DED-6C9B-55BB-AF14-452A9D2CE2B5}"/>
              </a:ext>
            </a:extLst>
          </p:cNvPr>
          <p:cNvSpPr txBox="1"/>
          <p:nvPr/>
        </p:nvSpPr>
        <p:spPr>
          <a:xfrm>
            <a:off x="742253" y="3551862"/>
            <a:ext cx="13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Desk</a:t>
            </a:r>
            <a:endParaRPr lang="en-US" sz="1400" b="1" dirty="0"/>
          </a:p>
        </p:txBody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CEF018E2-005A-CD4F-0272-2A2ACA3F389E}"/>
              </a:ext>
            </a:extLst>
          </p:cNvPr>
          <p:cNvSpPr txBox="1"/>
          <p:nvPr/>
        </p:nvSpPr>
        <p:spPr>
          <a:xfrm>
            <a:off x="702351" y="5277417"/>
            <a:ext cx="13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Self-check-in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</a:t>
            </a:r>
            <a:endParaRPr lang="en-US" sz="1400" b="1" dirty="0"/>
          </a:p>
        </p:txBody>
      </p:sp>
      <p:sp>
        <p:nvSpPr>
          <p:cNvPr id="109" name="Shape 8">
            <a:extLst>
              <a:ext uri="{FF2B5EF4-FFF2-40B4-BE49-F238E27FC236}">
                <a16:creationId xmlns:a16="http://schemas.microsoft.com/office/drawing/2014/main" id="{6387818C-390D-1396-6395-1F0A87EB3FB2}"/>
              </a:ext>
            </a:extLst>
          </p:cNvPr>
          <p:cNvSpPr/>
          <p:nvPr/>
        </p:nvSpPr>
        <p:spPr>
          <a:xfrm>
            <a:off x="7487158" y="3467726"/>
            <a:ext cx="1833372" cy="1519898"/>
          </a:xfrm>
          <a:prstGeom prst="roundRect">
            <a:avLst>
              <a:gd name="adj" fmla="val 3871"/>
            </a:avLst>
          </a:prstGeom>
          <a:solidFill>
            <a:srgbClr val="F6F7F5"/>
          </a:solidFill>
          <a:ln/>
        </p:spPr>
        <p:txBody>
          <a:bodyPr/>
          <a:lstStyle/>
          <a:p>
            <a:endParaRPr lang="en-IN" dirty="0"/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77F2E34-2EEE-FDE0-3015-6DA0675134FA}"/>
              </a:ext>
            </a:extLst>
          </p:cNvPr>
          <p:cNvCxnSpPr>
            <a:stCxn id="10" idx="3"/>
            <a:endCxn id="105" idx="1"/>
          </p:cNvCxnSpPr>
          <p:nvPr/>
        </p:nvCxnSpPr>
        <p:spPr>
          <a:xfrm>
            <a:off x="2336292" y="2522513"/>
            <a:ext cx="544068" cy="1700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E8C0A38-9872-2427-267A-28AEC7F265AE}"/>
              </a:ext>
            </a:extLst>
          </p:cNvPr>
          <p:cNvCxnSpPr>
            <a:cxnSpLocks/>
            <a:stCxn id="96" idx="3"/>
            <a:endCxn id="105" idx="1"/>
          </p:cNvCxnSpPr>
          <p:nvPr/>
        </p:nvCxnSpPr>
        <p:spPr>
          <a:xfrm flipV="1">
            <a:off x="2336292" y="4222803"/>
            <a:ext cx="544068" cy="17309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92B8290-34D6-796D-BCAF-8BB0C1553652}"/>
              </a:ext>
            </a:extLst>
          </p:cNvPr>
          <p:cNvCxnSpPr/>
          <p:nvPr/>
        </p:nvCxnSpPr>
        <p:spPr>
          <a:xfrm>
            <a:off x="2311146" y="4222803"/>
            <a:ext cx="2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9005507F-2CBD-BF33-EA3E-03C6080DA5E7}"/>
              </a:ext>
            </a:extLst>
          </p:cNvPr>
          <p:cNvCxnSpPr>
            <a:stCxn id="105" idx="3"/>
            <a:endCxn id="108" idx="1"/>
          </p:cNvCxnSpPr>
          <p:nvPr/>
        </p:nvCxnSpPr>
        <p:spPr>
          <a:xfrm>
            <a:off x="4713732" y="4222803"/>
            <a:ext cx="465582" cy="4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6259F92-3064-D1DB-7B69-FBAC66D1E53C}"/>
              </a:ext>
            </a:extLst>
          </p:cNvPr>
          <p:cNvCxnSpPr>
            <a:stCxn id="108" idx="3"/>
            <a:endCxn id="109" idx="1"/>
          </p:cNvCxnSpPr>
          <p:nvPr/>
        </p:nvCxnSpPr>
        <p:spPr>
          <a:xfrm>
            <a:off x="7012686" y="4227632"/>
            <a:ext cx="474472" cy="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83C807F-6250-9797-25C7-5938FEF5D4E5}"/>
              </a:ext>
            </a:extLst>
          </p:cNvPr>
          <p:cNvCxnSpPr>
            <a:stCxn id="109" idx="3"/>
            <a:endCxn id="110" idx="1"/>
          </p:cNvCxnSpPr>
          <p:nvPr/>
        </p:nvCxnSpPr>
        <p:spPr>
          <a:xfrm>
            <a:off x="9320530" y="4227675"/>
            <a:ext cx="515112" cy="7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Graphic 146" descr="Document with solid fill">
            <a:extLst>
              <a:ext uri="{FF2B5EF4-FFF2-40B4-BE49-F238E27FC236}">
                <a16:creationId xmlns:a16="http://schemas.microsoft.com/office/drawing/2014/main" id="{B3383DAD-FB76-23F8-88DE-303D8FE22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0544" y="2726295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798943" y="3636534"/>
            <a:ext cx="11630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49" name="Graphic 148" descr="Robot with solid fill">
            <a:extLst>
              <a:ext uri="{FF2B5EF4-FFF2-40B4-BE49-F238E27FC236}">
                <a16:creationId xmlns:a16="http://schemas.microsoft.com/office/drawing/2014/main" id="{610400C5-BC81-DD9F-7CF4-CE28EDA62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56643" y="2666241"/>
            <a:ext cx="438074" cy="438074"/>
          </a:xfrm>
          <a:prstGeom prst="rect">
            <a:avLst/>
          </a:prstGeom>
        </p:spPr>
      </p:pic>
      <p:pic>
        <p:nvPicPr>
          <p:cNvPr id="151" name="Graphic 150" descr="Open hand with plant with solid fill">
            <a:extLst>
              <a:ext uri="{FF2B5EF4-FFF2-40B4-BE49-F238E27FC236}">
                <a16:creationId xmlns:a16="http://schemas.microsoft.com/office/drawing/2014/main" id="{2D44B6D1-2F8F-641C-9721-CACCAF4D0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3993" y="2694537"/>
            <a:ext cx="371557" cy="371557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EE7CD0EE-24FB-B263-C342-5A946BAFD0D1}"/>
              </a:ext>
            </a:extLst>
          </p:cNvPr>
          <p:cNvSpPr txBox="1"/>
          <p:nvPr/>
        </p:nvSpPr>
        <p:spPr>
          <a:xfrm>
            <a:off x="597492" y="2079343"/>
            <a:ext cx="1713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complete medical history through ABHA ID, dosage,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C2A3DB2-E958-9E2D-C399-2DB58F5C6869}"/>
              </a:ext>
            </a:extLst>
          </p:cNvPr>
          <p:cNvSpPr txBox="1"/>
          <p:nvPr/>
        </p:nvSpPr>
        <p:spPr>
          <a:xfrm>
            <a:off x="631203" y="3951650"/>
            <a:ext cx="1531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B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Doctor Evaluation, OPD management,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Creation,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Updation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Smart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6B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C6B68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7764892-2035-DB64-0EA0-B76DB58ED413}"/>
              </a:ext>
            </a:extLst>
          </p:cNvPr>
          <p:cNvSpPr txBox="1"/>
          <p:nvPr/>
        </p:nvSpPr>
        <p:spPr>
          <a:xfrm>
            <a:off x="611498" y="5706540"/>
            <a:ext cx="16472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patients at hospital entrances,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touch/voice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D623455-FB8D-A157-717F-EB815234A253}"/>
              </a:ext>
            </a:extLst>
          </p:cNvPr>
          <p:cNvSpPr txBox="1"/>
          <p:nvPr/>
        </p:nvSpPr>
        <p:spPr>
          <a:xfrm>
            <a:off x="5314793" y="3432870"/>
            <a:ext cx="15624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reasoning model (Kimi K3 /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V3)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 models (Med-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Meditorn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70B)</a:t>
            </a:r>
            <a:b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RAG (WHO corpora)</a:t>
            </a:r>
            <a:endParaRPr lang="en-US" sz="12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1294893-B5E8-7459-08AB-D7826CC65F7F}"/>
              </a:ext>
            </a:extLst>
          </p:cNvPr>
          <p:cNvSpPr txBox="1"/>
          <p:nvPr/>
        </p:nvSpPr>
        <p:spPr>
          <a:xfrm>
            <a:off x="7558503" y="3550650"/>
            <a:ext cx="16689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EMR Workspace </a:t>
            </a:r>
            <a:b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SNOMED-CT &amp; ICD-10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history, medication, dosage &amp;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finfings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updation</a:t>
            </a:r>
            <a:r>
              <a:rPr lang="en-US" sz="12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ABHA ID via ABDM 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3D1C4AD-A2F9-B186-284A-C9C9CD792423}"/>
              </a:ext>
            </a:extLst>
          </p:cNvPr>
          <p:cNvGrpSpPr/>
          <p:nvPr/>
        </p:nvGrpSpPr>
        <p:grpSpPr>
          <a:xfrm>
            <a:off x="2905506" y="5548852"/>
            <a:ext cx="8584143" cy="886265"/>
            <a:chOff x="502920" y="5440680"/>
            <a:chExt cx="10835640" cy="886265"/>
          </a:xfrm>
        </p:grpSpPr>
        <p:sp>
          <p:nvSpPr>
            <p:cNvPr id="163" name="Text 57">
              <a:extLst>
                <a:ext uri="{FF2B5EF4-FFF2-40B4-BE49-F238E27FC236}">
                  <a16:creationId xmlns:a16="http://schemas.microsoft.com/office/drawing/2014/main" id="{96C0D6BA-947E-6B20-31B5-2C921B978B92}"/>
                </a:ext>
              </a:extLst>
            </p:cNvPr>
            <p:cNvSpPr txBox="1"/>
            <p:nvPr/>
          </p:nvSpPr>
          <p:spPr>
            <a:xfrm>
              <a:off x="8732520" y="544068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100" dirty="0">
                  <a:solidFill>
                    <a:srgbClr val="D98E0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LAYER</a:t>
              </a:r>
              <a:endParaRPr lang="en-US" sz="1200" dirty="0"/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60EB43F9-A2CC-81CD-2DDF-7A809450D9B7}"/>
                </a:ext>
              </a:extLst>
            </p:cNvPr>
            <p:cNvGrpSpPr/>
            <p:nvPr/>
          </p:nvGrpSpPr>
          <p:grpSpPr>
            <a:xfrm>
              <a:off x="502920" y="5440680"/>
              <a:ext cx="10835640" cy="886265"/>
              <a:chOff x="502920" y="5440680"/>
              <a:chExt cx="10835640" cy="886265"/>
            </a:xfrm>
          </p:grpSpPr>
          <p:sp>
            <p:nvSpPr>
              <p:cNvPr id="165" name="Text 51">
                <a:extLst>
                  <a:ext uri="{FF2B5EF4-FFF2-40B4-BE49-F238E27FC236}">
                    <a16:creationId xmlns:a16="http://schemas.microsoft.com/office/drawing/2014/main" id="{37F61E0E-C67B-453B-D577-8711376D6CB3}"/>
                  </a:ext>
                </a:extLst>
              </p:cNvPr>
              <p:cNvSpPr txBox="1"/>
              <p:nvPr/>
            </p:nvSpPr>
            <p:spPr>
              <a:xfrm>
                <a:off x="502920" y="5440680"/>
                <a:ext cx="2560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100" dirty="0">
                    <a:solidFill>
                      <a:srgbClr val="D98E0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FRONTEND</a:t>
                </a:r>
                <a:endParaRPr lang="en-US" sz="1200" dirty="0"/>
              </a:p>
            </p:txBody>
          </p:sp>
          <p:sp>
            <p:nvSpPr>
              <p:cNvPr id="166" name="Text 52">
                <a:extLst>
                  <a:ext uri="{FF2B5EF4-FFF2-40B4-BE49-F238E27FC236}">
                    <a16:creationId xmlns:a16="http://schemas.microsoft.com/office/drawing/2014/main" id="{4B15FA8E-1927-FA71-C604-2E82FE48452D}"/>
                  </a:ext>
                </a:extLst>
              </p:cNvPr>
              <p:cNvSpPr txBox="1"/>
              <p:nvPr/>
            </p:nvSpPr>
            <p:spPr>
              <a:xfrm>
                <a:off x="502920" y="5778305"/>
                <a:ext cx="26060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5C6B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Cross-platform PWA — tablets &amp; desktops already in OPDs</a:t>
                </a:r>
                <a:endParaRPr lang="en-US" sz="1000" dirty="0"/>
              </a:p>
            </p:txBody>
          </p:sp>
          <p:sp>
            <p:nvSpPr>
              <p:cNvPr id="167" name="Text 53">
                <a:extLst>
                  <a:ext uri="{FF2B5EF4-FFF2-40B4-BE49-F238E27FC236}">
                    <a16:creationId xmlns:a16="http://schemas.microsoft.com/office/drawing/2014/main" id="{6696BC18-3344-F24B-B176-5357D5571C2E}"/>
                  </a:ext>
                </a:extLst>
              </p:cNvPr>
              <p:cNvSpPr txBox="1"/>
              <p:nvPr/>
            </p:nvSpPr>
            <p:spPr>
              <a:xfrm>
                <a:off x="3246120" y="5440680"/>
                <a:ext cx="2560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100" dirty="0">
                    <a:solidFill>
                      <a:srgbClr val="D98E0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VOICE AI</a:t>
                </a:r>
                <a:endParaRPr lang="en-US" sz="1200" dirty="0"/>
              </a:p>
            </p:txBody>
          </p:sp>
          <p:sp>
            <p:nvSpPr>
              <p:cNvPr id="168" name="Text 54">
                <a:extLst>
                  <a:ext uri="{FF2B5EF4-FFF2-40B4-BE49-F238E27FC236}">
                    <a16:creationId xmlns:a16="http://schemas.microsoft.com/office/drawing/2014/main" id="{C520D5C1-B4F1-BFE2-B55D-DCDBDFBBD4D2}"/>
                  </a:ext>
                </a:extLst>
              </p:cNvPr>
              <p:cNvSpPr txBox="1"/>
              <p:nvPr/>
            </p:nvSpPr>
            <p:spPr>
              <a:xfrm>
                <a:off x="3228308" y="5771883"/>
                <a:ext cx="26060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5C6B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Indic ASR / TTS via Bhashini</a:t>
                </a:r>
                <a:endParaRPr lang="en-US" sz="1000" dirty="0"/>
              </a:p>
            </p:txBody>
          </p:sp>
          <p:sp>
            <p:nvSpPr>
              <p:cNvPr id="169" name="Text 55">
                <a:extLst>
                  <a:ext uri="{FF2B5EF4-FFF2-40B4-BE49-F238E27FC236}">
                    <a16:creationId xmlns:a16="http://schemas.microsoft.com/office/drawing/2014/main" id="{85936F7C-0388-2132-F739-9D4F3083889D}"/>
                  </a:ext>
                </a:extLst>
              </p:cNvPr>
              <p:cNvSpPr txBox="1"/>
              <p:nvPr/>
            </p:nvSpPr>
            <p:spPr>
              <a:xfrm>
                <a:off x="5989320" y="5440680"/>
                <a:ext cx="2560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kern="0" spc="100" dirty="0">
                    <a:solidFill>
                      <a:srgbClr val="D98E0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VISION</a:t>
                </a:r>
                <a:endParaRPr lang="en-US" sz="1200" dirty="0"/>
              </a:p>
            </p:txBody>
          </p:sp>
          <p:sp>
            <p:nvSpPr>
              <p:cNvPr id="170" name="Text 56">
                <a:extLst>
                  <a:ext uri="{FF2B5EF4-FFF2-40B4-BE49-F238E27FC236}">
                    <a16:creationId xmlns:a16="http://schemas.microsoft.com/office/drawing/2014/main" id="{2039189A-5404-8BAB-984F-E34F4EEEF986}"/>
                  </a:ext>
                </a:extLst>
              </p:cNvPr>
              <p:cNvSpPr txBox="1"/>
              <p:nvPr/>
            </p:nvSpPr>
            <p:spPr>
              <a:xfrm>
                <a:off x="5989320" y="5669280"/>
                <a:ext cx="26060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000" dirty="0" err="1">
                    <a:solidFill>
                      <a:srgbClr val="5C6B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Nemotron</a:t>
                </a:r>
                <a:r>
                  <a:rPr lang="en-US" sz="1000" dirty="0">
                    <a:solidFill>
                      <a:srgbClr val="5C6B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V2 OCR</a:t>
                </a:r>
                <a:endParaRPr lang="en-US" sz="1000" dirty="0"/>
              </a:p>
            </p:txBody>
          </p:sp>
          <p:sp>
            <p:nvSpPr>
              <p:cNvPr id="171" name="Text 58">
                <a:extLst>
                  <a:ext uri="{FF2B5EF4-FFF2-40B4-BE49-F238E27FC236}">
                    <a16:creationId xmlns:a16="http://schemas.microsoft.com/office/drawing/2014/main" id="{01AA1613-924D-D63D-2E75-7CD2306F5FA6}"/>
                  </a:ext>
                </a:extLst>
              </p:cNvPr>
              <p:cNvSpPr txBox="1"/>
              <p:nvPr/>
            </p:nvSpPr>
            <p:spPr>
              <a:xfrm>
                <a:off x="8732520" y="5669280"/>
                <a:ext cx="260604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5C6B6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FHIR + ABDM APIs, encrypted, session-purged</a:t>
                </a:r>
                <a:endParaRPr lang="en-US" sz="1000"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53312"/>
            <a:ext cx="3520440" cy="2755626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499616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11" name="Image 0" descr="/home/claude/samanvaya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1848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15190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108863"/>
            <a:ext cx="3108960" cy="1841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proven building blocks — conversational LLMs, Autonomous AI, OCR, and India's own Bhashini voice APIs.</a:t>
            </a:r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ABDM's FHIR APIs and ABHA already provide the interoperability layer, Samanvaya plugs into it.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low-cost tablets/desktops already present in OPDs — no new hardware.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353312"/>
            <a:ext cx="3520440" cy="2755626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Shape 14"/>
          <p:cNvSpPr/>
          <p:nvPr/>
        </p:nvSpPr>
        <p:spPr>
          <a:xfrm>
            <a:off x="4480560" y="148132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18" name="Image 1" descr="/home/claude/samanvaya/icons/trending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60020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74920" y="1436311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Viability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480560" y="2108863"/>
            <a:ext cx="3108960" cy="1841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deployment — one platform per OPD desk, not per-patient hardware.</a:t>
            </a:r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slashes out of pocket expenditure (OOPE) for citizens by preventing repeated lab tests, files and expensive brand prescriptions</a:t>
            </a:r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IN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80% Generic drug savings common maps nearest </a:t>
            </a:r>
            <a:r>
              <a:rPr lang="en-IN" sz="1100" dirty="0" err="1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Kendras</a:t>
            </a:r>
            <a:r>
              <a:rPr lang="en-IN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001000" y="1353311"/>
            <a:ext cx="3520440" cy="2755623"/>
          </a:xfrm>
          <a:prstGeom prst="roundRect">
            <a:avLst>
              <a:gd name="adj" fmla="val 2105"/>
            </a:avLst>
          </a:prstGeom>
          <a:solidFill>
            <a:srgbClr val="F6F7F5"/>
          </a:solidFill>
          <a:ln/>
        </p:spPr>
      </p:sp>
      <p:sp>
        <p:nvSpPr>
          <p:cNvPr id="24" name="Shape 20"/>
          <p:cNvSpPr/>
          <p:nvPr/>
        </p:nvSpPr>
        <p:spPr>
          <a:xfrm>
            <a:off x="8229600" y="1481328"/>
            <a:ext cx="457200" cy="457200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25" name="Image 2" descr="/home/claude/samanvaya/icons/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60020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23960" y="1436311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Viability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8229600" y="2112066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ahead of the consultation, not inside it — intake happens in the waiting room.</a:t>
            </a:r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stays the final authority — every AI summary is a draft to accept, edit or reject.</a:t>
            </a:r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 keeps it usable where hospital connectivity is unreliable.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endParaRPr lang="en-US" sz="1100" dirty="0"/>
          </a:p>
          <a:p>
            <a:pPr marL="171450" indent="-171450">
              <a:lnSpc>
                <a:spcPct val="150000"/>
              </a:lnSpc>
              <a:buSzPct val="100000"/>
              <a:buFont typeface="Wingdings" panose="05000000000000000000" pitchFamily="2" charset="2"/>
              <a:buChar char="Ø"/>
            </a:pP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59545" y="432440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HOW WE ADDRESS THEM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147594"/>
              </p:ext>
            </p:extLst>
          </p:nvPr>
        </p:nvGraphicFramePr>
        <p:xfrm>
          <a:off x="443484" y="4714904"/>
          <a:ext cx="11183112" cy="173736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1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digital literacy / elderly patients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floating NLP assistant, Dual voice + touch input, audio-guided consent, zero-training icon-based UI.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medical &amp; scheme data current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sync with ICMR / PMBJP / scheme sources — versioned, not hardcoded.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accuracy on poor handwriting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review — doctor edits and confirms before anything saves.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2E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&amp; consent at scale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C6B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Act-compliant flow; raw scans purged immediately after structuring.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Oval 32" descr="Your startup LOGO">
            <a:extLst>
              <a:ext uri="{FF2B5EF4-FFF2-40B4-BE49-F238E27FC236}">
                <a16:creationId xmlns:a16="http://schemas.microsoft.com/office/drawing/2014/main" id="{856844AB-28EE-C80F-0C6E-A9D9820BAF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6551" y="161445"/>
            <a:ext cx="1251857" cy="80733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Panchajanyam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8ED2431-FC51-AA83-63AB-F4C81E0C57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AD615F-D880-8322-6760-EB58CFA50995}"/>
              </a:ext>
            </a:extLst>
          </p:cNvPr>
          <p:cNvSpPr txBox="1"/>
          <p:nvPr/>
        </p:nvSpPr>
        <p:spPr>
          <a:xfrm>
            <a:off x="1641231" y="198499"/>
            <a:ext cx="829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BDA38AD-886F-9A36-3C60-2C03F0EE0E93}"/>
              </a:ext>
            </a:extLst>
          </p:cNvPr>
          <p:cNvGrpSpPr/>
          <p:nvPr/>
        </p:nvGrpSpPr>
        <p:grpSpPr>
          <a:xfrm>
            <a:off x="907288" y="1372086"/>
            <a:ext cx="10927080" cy="1417320"/>
            <a:chOff x="502920" y="2606040"/>
            <a:chExt cx="10927080" cy="1417320"/>
          </a:xfrm>
        </p:grpSpPr>
        <p:sp>
          <p:nvSpPr>
            <p:cNvPr id="26" name="Shape 22"/>
            <p:cNvSpPr/>
            <p:nvPr/>
          </p:nvSpPr>
          <p:spPr>
            <a:xfrm>
              <a:off x="4245481" y="2628900"/>
              <a:ext cx="502920" cy="502920"/>
            </a:xfrm>
            <a:prstGeom prst="ellipse">
              <a:avLst/>
            </a:prstGeom>
            <a:solidFill>
              <a:srgbClr val="D98E04"/>
            </a:solidFill>
            <a:ln/>
            <a:effectLst>
              <a:outerShdw blurRad="76200" dist="25400" dir="5400000" algn="bl" rotWithShape="0">
                <a:srgbClr val="1A2E2B">
                  <a:alpha val="18000"/>
                </a:srgbClr>
              </a:outerShdw>
            </a:effectLst>
          </p:spPr>
        </p:sp>
        <p:sp>
          <p:nvSpPr>
            <p:cNvPr id="87" name="Shape 17">
              <a:extLst>
                <a:ext uri="{FF2B5EF4-FFF2-40B4-BE49-F238E27FC236}">
                  <a16:creationId xmlns:a16="http://schemas.microsoft.com/office/drawing/2014/main" id="{34D400C0-7033-3363-A8DD-48431CCE4E9B}"/>
                </a:ext>
              </a:extLst>
            </p:cNvPr>
            <p:cNvSpPr/>
            <p:nvPr/>
          </p:nvSpPr>
          <p:spPr>
            <a:xfrm>
              <a:off x="8025690" y="2614146"/>
              <a:ext cx="502920" cy="502920"/>
            </a:xfrm>
            <a:prstGeom prst="ellipse">
              <a:avLst/>
            </a:prstGeom>
            <a:solidFill>
              <a:srgbClr val="0E4B43"/>
            </a:solidFill>
            <a:ln/>
            <a:effectLst>
              <a:outerShdw blurRad="76200" dist="25400" dir="5400000" algn="bl" rotWithShape="0">
                <a:srgbClr val="1A2E2B">
                  <a:alpha val="1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502920" y="2606040"/>
              <a:ext cx="502920" cy="502920"/>
            </a:xfrm>
            <a:prstGeom prst="ellipse">
              <a:avLst/>
            </a:prstGeom>
            <a:solidFill>
              <a:srgbClr val="0E4B43"/>
            </a:solidFill>
            <a:ln/>
            <a:effectLst>
              <a:outerShdw blurRad="76200" dist="25400" dir="5400000" algn="bl" rotWithShape="0">
                <a:srgbClr val="1A2E2B">
                  <a:alpha val="18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5" name="Image 0" descr="/home/claude/samanvaya/icons/hear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679" y="2736799"/>
              <a:ext cx="241402" cy="241402"/>
            </a:xfrm>
            <a:prstGeom prst="rect">
              <a:avLst/>
            </a:prstGeom>
          </p:spPr>
        </p:pic>
        <p:sp>
          <p:nvSpPr>
            <p:cNvPr id="16" name="Text 13"/>
            <p:cNvSpPr txBox="1"/>
            <p:nvPr/>
          </p:nvSpPr>
          <p:spPr>
            <a:xfrm>
              <a:off x="1161288" y="265176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373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 Patients</a:t>
              </a:r>
              <a:endParaRPr lang="en-US" sz="15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502920" y="3246120"/>
              <a:ext cx="34290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History captured once — no repeating the same story at every visit.</a:t>
              </a:r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Care in their own language, usable by low-literacy and elderly patients via their local voice support</a:t>
              </a:r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 visibility into scheme eligibility and lower-cost generic alternatives.</a:t>
              </a: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endParaRPr lang="en-US" sz="1400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endParaRPr lang="en-US" sz="1400" dirty="0"/>
            </a:p>
          </p:txBody>
        </p:sp>
        <p:pic>
          <p:nvPicPr>
            <p:cNvPr id="21" name="Image 1" descr="/home/claude/samanvaya/icons/userchec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2719" y="2736799"/>
              <a:ext cx="241402" cy="241402"/>
            </a:xfrm>
            <a:prstGeom prst="rect">
              <a:avLst/>
            </a:prstGeom>
          </p:spPr>
        </p:pic>
        <p:sp>
          <p:nvSpPr>
            <p:cNvPr id="22" name="Text 18"/>
            <p:cNvSpPr txBox="1"/>
            <p:nvPr/>
          </p:nvSpPr>
          <p:spPr>
            <a:xfrm>
              <a:off x="4910328" y="265176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373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 Doctors</a:t>
              </a:r>
              <a:endParaRPr lang="en-US" sz="1500" dirty="0"/>
            </a:p>
          </p:txBody>
        </p:sp>
        <p:sp>
          <p:nvSpPr>
            <p:cNvPr id="23" name="Text 19"/>
            <p:cNvSpPr txBox="1"/>
            <p:nvPr/>
          </p:nvSpPr>
          <p:spPr>
            <a:xfrm>
              <a:off x="4251960" y="3246120"/>
              <a:ext cx="34290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Walks in with the reading already done — not the recording of it, helps in exposing hidden history or symptoms.</a:t>
              </a:r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AI-flagged red flags and drug interactions add a second layer of safety.</a:t>
              </a:r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Summaries are ABDM/FHIR-ready — no extra transcription step.</a:t>
              </a: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endParaRPr lang="en-US" sz="1400" dirty="0"/>
            </a:p>
          </p:txBody>
        </p:sp>
        <p:pic>
          <p:nvPicPr>
            <p:cNvPr id="27" name="Image 2" descr="/home/claude/samanvaya/icons/trendingu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1759" y="2736799"/>
              <a:ext cx="241402" cy="241402"/>
            </a:xfrm>
            <a:prstGeom prst="rect">
              <a:avLst/>
            </a:prstGeom>
          </p:spPr>
        </p:pic>
        <p:sp>
          <p:nvSpPr>
            <p:cNvPr id="28" name="Text 23"/>
            <p:cNvSpPr txBox="1"/>
            <p:nvPr/>
          </p:nvSpPr>
          <p:spPr>
            <a:xfrm>
              <a:off x="8659368" y="2651760"/>
              <a:ext cx="2743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A373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For the Health System</a:t>
              </a:r>
              <a:endParaRPr lang="en-US" sz="1500" dirty="0"/>
            </a:p>
          </p:txBody>
        </p:sp>
        <p:sp>
          <p:nvSpPr>
            <p:cNvPr id="29" name="Text 24"/>
            <p:cNvSpPr txBox="1"/>
            <p:nvPr/>
          </p:nvSpPr>
          <p:spPr>
            <a:xfrm>
              <a:off x="8001000" y="3246120"/>
              <a:ext cx="34290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Digitizes the ABDM “first mile” that currently has no software solution.</a:t>
              </a:r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AYUSH-aware from day one — one platform for allopathic and Ayurvedic OPDs.</a:t>
              </a:r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r>
                <a:rPr lang="en-US" sz="1400" dirty="0">
                  <a:solidFill>
                    <a:srgbClr val="1A2E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Reclaims clinical time without adding headcount.</a:t>
              </a: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FontTx/>
                <a:buChar char="•"/>
              </a:pPr>
              <a:endParaRPr lang="en-US" sz="1400" dirty="0"/>
            </a:p>
            <a:p>
              <a:pPr marL="152400" indent="-152400">
                <a:lnSpc>
                  <a:spcPct val="150000"/>
                </a:lnSpc>
                <a:buSzPct val="100000"/>
                <a:buChar char="•"/>
              </a:pPr>
              <a:endParaRPr lang="en-US" sz="1400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04A8588-B38B-DA12-8241-39581D8A7975}"/>
              </a:ext>
            </a:extLst>
          </p:cNvPr>
          <p:cNvSpPr txBox="1"/>
          <p:nvPr/>
        </p:nvSpPr>
        <p:spPr>
          <a:xfrm>
            <a:off x="2918460" y="3198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dirty="0"/>
          </a:p>
        </p:txBody>
      </p:sp>
      <p:sp>
        <p:nvSpPr>
          <p:cNvPr id="35" name="Oval 34" descr="Your startup LOGO">
            <a:extLst>
              <a:ext uri="{FF2B5EF4-FFF2-40B4-BE49-F238E27FC236}">
                <a16:creationId xmlns:a16="http://schemas.microsoft.com/office/drawing/2014/main" id="{CA511C96-B7C0-42DC-25B2-78BBE350E9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6551" y="161445"/>
            <a:ext cx="1251857" cy="80733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Panchajanyam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BAAC905-F3D2-A5C7-651C-7FC099CD6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80BEAD67-9E6D-F6C6-9399-A2042041EE25}"/>
              </a:ext>
            </a:extLst>
          </p:cNvPr>
          <p:cNvSpPr txBox="1"/>
          <p:nvPr/>
        </p:nvSpPr>
        <p:spPr>
          <a:xfrm>
            <a:off x="4521200" y="4210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0C1B6C7-288F-0A8C-2E27-FA97528B8042}"/>
              </a:ext>
            </a:extLst>
          </p:cNvPr>
          <p:cNvGrpSpPr/>
          <p:nvPr/>
        </p:nvGrpSpPr>
        <p:grpSpPr>
          <a:xfrm>
            <a:off x="792479" y="4733717"/>
            <a:ext cx="5268087" cy="1412954"/>
            <a:chOff x="470027" y="4803962"/>
            <a:chExt cx="5268087" cy="1412954"/>
          </a:xfrm>
        </p:grpSpPr>
        <p:pic>
          <p:nvPicPr>
            <p:cNvPr id="102" name="Graphic 101" descr="Checkmark with solid fill">
              <a:extLst>
                <a:ext uri="{FF2B5EF4-FFF2-40B4-BE49-F238E27FC236}">
                  <a16:creationId xmlns:a16="http://schemas.microsoft.com/office/drawing/2014/main" id="{09DF4D64-3D1C-1398-F249-76612DD061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3126" y="5763526"/>
              <a:ext cx="453390" cy="453390"/>
            </a:xfrm>
            <a:prstGeom prst="rect">
              <a:avLst/>
            </a:prstGeom>
          </p:spPr>
        </p:pic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68782964-1DA0-D99C-5A2E-0B732B72410B}"/>
                </a:ext>
              </a:extLst>
            </p:cNvPr>
            <p:cNvGrpSpPr/>
            <p:nvPr/>
          </p:nvGrpSpPr>
          <p:grpSpPr>
            <a:xfrm>
              <a:off x="470027" y="4803962"/>
              <a:ext cx="5268087" cy="1333274"/>
              <a:chOff x="470027" y="4803962"/>
              <a:chExt cx="5268087" cy="1333274"/>
            </a:xfrm>
          </p:grpSpPr>
          <p:pic>
            <p:nvPicPr>
              <p:cNvPr id="94" name="Graphic 93" descr="Checkmark with solid fill">
                <a:extLst>
                  <a:ext uri="{FF2B5EF4-FFF2-40B4-BE49-F238E27FC236}">
                    <a16:creationId xmlns:a16="http://schemas.microsoft.com/office/drawing/2014/main" id="{5AF75627-2478-A67D-CE59-27F99E7C0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0027" y="4803962"/>
                <a:ext cx="453390" cy="453390"/>
              </a:xfrm>
              <a:prstGeom prst="rect">
                <a:avLst/>
              </a:prstGeom>
            </p:spPr>
          </p:pic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102BA14-679D-BDC8-202A-A98A83E8D8D5}"/>
                  </a:ext>
                </a:extLst>
              </p:cNvPr>
              <p:cNvSpPr txBox="1"/>
              <p:nvPr/>
            </p:nvSpPr>
            <p:spPr>
              <a:xfrm>
                <a:off x="1210564" y="4840744"/>
                <a:ext cx="4527550" cy="38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SzPct val="100000"/>
                </a:pPr>
                <a:r>
                  <a:rPr lang="en-IN" sz="1400" b="1" dirty="0">
                    <a:solidFill>
                      <a:srgbClr val="0E4B4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80%+ Reduction in out-of-pocket expenses</a:t>
                </a:r>
                <a:endParaRPr lang="en-US" sz="1400" b="1" dirty="0">
                  <a:solidFill>
                    <a:srgbClr val="0E4B43"/>
                  </a:solidFill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D5D484D-1F29-1079-7536-AC8BE619EBFD}"/>
                  </a:ext>
                </a:extLst>
              </p:cNvPr>
              <p:cNvSpPr txBox="1"/>
              <p:nvPr/>
            </p:nvSpPr>
            <p:spPr>
              <a:xfrm>
                <a:off x="1260856" y="5755144"/>
                <a:ext cx="4212844" cy="38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SzPct val="100000"/>
                </a:pPr>
                <a:r>
                  <a:rPr lang="en-US" sz="1400" b="1" dirty="0">
                    <a:solidFill>
                      <a:srgbClr val="0E4B4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5x Increase in Hospital OPD Capacity</a:t>
                </a:r>
                <a:endParaRPr lang="en-US" sz="1400" b="1" dirty="0">
                  <a:solidFill>
                    <a:srgbClr val="0E4B43"/>
                  </a:solidFill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27682FE-43A0-64F9-B9C2-55A895A93EB9}"/>
              </a:ext>
            </a:extLst>
          </p:cNvPr>
          <p:cNvGrpSpPr/>
          <p:nvPr/>
        </p:nvGrpSpPr>
        <p:grpSpPr>
          <a:xfrm>
            <a:off x="6429692" y="4771331"/>
            <a:ext cx="5268087" cy="1412954"/>
            <a:chOff x="470027" y="4803962"/>
            <a:chExt cx="5268087" cy="1412954"/>
          </a:xfrm>
        </p:grpSpPr>
        <p:pic>
          <p:nvPicPr>
            <p:cNvPr id="116" name="Graphic 115" descr="Checkmark with solid fill">
              <a:extLst>
                <a:ext uri="{FF2B5EF4-FFF2-40B4-BE49-F238E27FC236}">
                  <a16:creationId xmlns:a16="http://schemas.microsoft.com/office/drawing/2014/main" id="{BA57F49C-95F2-9245-A1A2-0567154762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3126" y="5763526"/>
              <a:ext cx="453390" cy="453390"/>
            </a:xfrm>
            <a:prstGeom prst="rect">
              <a:avLst/>
            </a:prstGeom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1DF2028E-9A38-FD17-7FA0-5668B9D76925}"/>
                </a:ext>
              </a:extLst>
            </p:cNvPr>
            <p:cNvGrpSpPr/>
            <p:nvPr/>
          </p:nvGrpSpPr>
          <p:grpSpPr>
            <a:xfrm>
              <a:off x="470027" y="4803962"/>
              <a:ext cx="5268087" cy="1333274"/>
              <a:chOff x="470027" y="4803962"/>
              <a:chExt cx="5268087" cy="1333274"/>
            </a:xfrm>
          </p:grpSpPr>
          <p:pic>
            <p:nvPicPr>
              <p:cNvPr id="118" name="Graphic 117" descr="Checkmark with solid fill">
                <a:extLst>
                  <a:ext uri="{FF2B5EF4-FFF2-40B4-BE49-F238E27FC236}">
                    <a16:creationId xmlns:a16="http://schemas.microsoft.com/office/drawing/2014/main" id="{547924EB-2545-41D8-E03D-D9BDBB4DF5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0027" y="4803962"/>
                <a:ext cx="453390" cy="453390"/>
              </a:xfrm>
              <a:prstGeom prst="rect">
                <a:avLst/>
              </a:prstGeom>
            </p:spPr>
          </p:pic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0C11517-CA89-31DD-876A-BD9BFEA14078}"/>
                  </a:ext>
                </a:extLst>
              </p:cNvPr>
              <p:cNvSpPr txBox="1"/>
              <p:nvPr/>
            </p:nvSpPr>
            <p:spPr>
              <a:xfrm>
                <a:off x="1210564" y="4840744"/>
                <a:ext cx="4527550" cy="38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SzPct val="100000"/>
                </a:pPr>
                <a:r>
                  <a:rPr lang="en-IN" sz="1400" b="1" dirty="0">
                    <a:solidFill>
                      <a:srgbClr val="0E4B4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Elimination of Lost Files &amp; Duplicate Tests</a:t>
                </a:r>
                <a:endParaRPr lang="en-US" sz="1400" b="1" dirty="0">
                  <a:solidFill>
                    <a:srgbClr val="0E4B43"/>
                  </a:solidFill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2D7E08B-99EE-7FC0-735E-4FF755AE47D1}"/>
                  </a:ext>
                </a:extLst>
              </p:cNvPr>
              <p:cNvSpPr txBox="1"/>
              <p:nvPr/>
            </p:nvSpPr>
            <p:spPr>
              <a:xfrm>
                <a:off x="1260856" y="5755144"/>
                <a:ext cx="4212844" cy="38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SzPct val="100000"/>
                </a:pPr>
                <a:r>
                  <a:rPr lang="en-US" sz="1400" b="1" dirty="0">
                    <a:solidFill>
                      <a:srgbClr val="0E4B43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Universal Health Care Equity</a:t>
                </a:r>
                <a:endParaRPr lang="en-US" sz="1400" b="1" dirty="0">
                  <a:solidFill>
                    <a:srgbClr val="0E4B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11" name="Image 0" descr="/home/claude/samanvaya/icons/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1837212"/>
            <a:ext cx="184343" cy="18434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51560" y="1691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Irving G, et al. “International variations in primary care physician consultation time: a systematic review of 67 countries.”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1936241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BMJ Open, 2017;7(10):e017902   •   doi.org/10.1136/bmjopen-2017-017902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378172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15" name="Image 1" descr="/home/claude/samanvaya/icons/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2" y="2478024"/>
            <a:ext cx="184343" cy="18434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51560" y="23324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SIH26047 — “Patient Case-Taking Software”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258423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Institute of Ayurveda, Ministry of Ayush   •   Smart India Hackathon 2026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7238" y="3703320"/>
            <a:ext cx="11183112" cy="0"/>
          </a:xfrm>
          <a:prstGeom prst="line">
            <a:avLst/>
          </a:prstGeom>
          <a:noFill/>
          <a:ln w="12700">
            <a:solidFill>
              <a:srgbClr val="DDE3E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0292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PLATFORMS &amp; STANDARDS WE BUILD 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21" name="Image 2" descr="/home/claude/samanvaya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4374490"/>
            <a:ext cx="175565" cy="17556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584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(ABDM)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digital health infrastructure — ABHA, Health Information Exchange, FHIR standards.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50292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abdm.gov.in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25196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26" name="Image 3" descr="/home/claude/samanvaya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058" y="4374490"/>
            <a:ext cx="175565" cy="17556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75488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— National Language Translation Mission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25196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voice &amp; translation APIs across 22 Indian languages.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425196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bhashini.gov.in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001000" y="427939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31" name="Image 4" descr="/home/claude/samanvaya/icons/checksqu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098" y="4374490"/>
            <a:ext cx="175565" cy="1755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503920" y="42428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Act, 2023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001000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basis for our consent and data-minimization design.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8001000" y="5029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meity.gov.in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0292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36" name="Image 5" descr="/home/claude/samanvaya/icons/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18" y="5426050"/>
            <a:ext cx="175565" cy="17556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0584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Standard Treatment Workflows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0292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clinical protocols behind the Medical Specialist Branch.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50292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icmr.gov.in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425196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41" name="Image 6" descr="/home/claude/samanvaya/icons/per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7058" y="5426050"/>
            <a:ext cx="175565" cy="17556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475488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PM-JAY (Ayushman Bharat)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425196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health-cover scheme checked by the eligibility navigator.</a:t>
            </a:r>
            <a:endParaRPr lang="en-US" sz="850" dirty="0"/>
          </a:p>
        </p:txBody>
      </p:sp>
      <p:sp>
        <p:nvSpPr>
          <p:cNvPr id="44" name="Text 35"/>
          <p:cNvSpPr txBox="1"/>
          <p:nvPr/>
        </p:nvSpPr>
        <p:spPr>
          <a:xfrm>
            <a:off x="425196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pmjay.gov.in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8001000" y="5330952"/>
            <a:ext cx="365760" cy="365760"/>
          </a:xfrm>
          <a:prstGeom prst="ellipse">
            <a:avLst/>
          </a:prstGeom>
          <a:solidFill>
            <a:srgbClr val="D98E04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46" name="Image 7" descr="/home/claude/samanvaya/icons/he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098" y="5426050"/>
            <a:ext cx="175565" cy="17556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503920" y="5294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PMBJP — Jan Aushadhi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8001000" y="5715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Generic-medicine pricing behind the cost-savings comparison.</a:t>
            </a:r>
            <a:endParaRPr lang="en-US" sz="850" dirty="0"/>
          </a:p>
        </p:txBody>
      </p:sp>
      <p:sp>
        <p:nvSpPr>
          <p:cNvPr id="49" name="Text 39"/>
          <p:cNvSpPr txBox="1"/>
          <p:nvPr/>
        </p:nvSpPr>
        <p:spPr>
          <a:xfrm>
            <a:off x="8001000" y="6080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janaushadhi.gov.in</a:t>
            </a:r>
            <a:endParaRPr lang="en-US" sz="850" dirty="0"/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E1C16013-773F-F152-A3E4-4BA1E92AFC21}"/>
              </a:ext>
            </a:extLst>
          </p:cNvPr>
          <p:cNvSpPr txBox="1">
            <a:spLocks/>
          </p:cNvSpPr>
          <p:nvPr/>
        </p:nvSpPr>
        <p:spPr bwMode="auto">
          <a:xfrm>
            <a:off x="330200" y="22437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73DF7DA-05D1-AA32-6357-FE6E6D4AC8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7" name="Oval 56" descr="Your startup LOGO">
            <a:extLst>
              <a:ext uri="{FF2B5EF4-FFF2-40B4-BE49-F238E27FC236}">
                <a16:creationId xmlns:a16="http://schemas.microsoft.com/office/drawing/2014/main" id="{B54B35BE-EDB2-22E5-2C56-51AB82FC5A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6551" y="161445"/>
            <a:ext cx="1251857" cy="807334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8064A2"/>
            </a:solidFill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</a:t>
            </a:r>
            <a:endParaRPr kumimoji="0" lang="en-I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Panchajanyam</a:t>
            </a:r>
            <a:endParaRPr kumimoji="0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Shape 11">
            <a:extLst>
              <a:ext uri="{FF2B5EF4-FFF2-40B4-BE49-F238E27FC236}">
                <a16:creationId xmlns:a16="http://schemas.microsoft.com/office/drawing/2014/main" id="{0B582B66-C54F-3279-66F9-4D44237A2DFA}"/>
              </a:ext>
            </a:extLst>
          </p:cNvPr>
          <p:cNvSpPr/>
          <p:nvPr/>
        </p:nvSpPr>
        <p:spPr>
          <a:xfrm>
            <a:off x="507238" y="2998501"/>
            <a:ext cx="384048" cy="384048"/>
          </a:xfrm>
          <a:prstGeom prst="ellipse">
            <a:avLst/>
          </a:prstGeom>
          <a:solidFill>
            <a:srgbClr val="0E4B43"/>
          </a:solidFill>
          <a:ln/>
          <a:effectLst>
            <a:outerShdw blurRad="76200" dist="25400" dir="5400000" algn="bl" rotWithShape="0">
              <a:srgbClr val="1A2E2B">
                <a:alpha val="18000"/>
              </a:srgbClr>
            </a:outerShdw>
          </a:effectLst>
        </p:spPr>
      </p:sp>
      <p:pic>
        <p:nvPicPr>
          <p:cNvPr id="59" name="Image 1" descr="/home/claude/samanvaya/icons/bookopen.png">
            <a:extLst>
              <a:ext uri="{FF2B5EF4-FFF2-40B4-BE49-F238E27FC236}">
                <a16:creationId xmlns:a16="http://schemas.microsoft.com/office/drawing/2014/main" id="{60160C95-D20F-C3CE-6E06-31BD77727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90" y="3098353"/>
            <a:ext cx="184343" cy="18434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1906A22-2558-93A6-5B71-16D9A4F4705F}"/>
              </a:ext>
            </a:extLst>
          </p:cNvPr>
          <p:cNvSpPr txBox="1"/>
          <p:nvPr/>
        </p:nvSpPr>
        <p:spPr>
          <a:xfrm>
            <a:off x="946150" y="2900868"/>
            <a:ext cx="6096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Patient Appointments management</a:t>
            </a:r>
            <a:endParaRPr lang="en-US" sz="115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967C95-4172-0396-5CA3-A79EDEF3252F}"/>
              </a:ext>
            </a:extLst>
          </p:cNvPr>
          <p:cNvSpPr txBox="1"/>
          <p:nvPr/>
        </p:nvSpPr>
        <p:spPr>
          <a:xfrm>
            <a:off x="946150" y="3188460"/>
            <a:ext cx="609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Publication •   https://ieeexplore.ieee.org/abstract/document/8991064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1152</Words>
  <Application>Microsoft Office PowerPoint</Application>
  <PresentationFormat>Widescreen</PresentationFormat>
  <Paragraphs>161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Cambria</vt:lpstr>
      <vt:lpstr>Garamond</vt:lpstr>
      <vt:lpstr>Times New Roman</vt:lpstr>
      <vt:lpstr>TradeGothic</vt:lpstr>
      <vt:lpstr>Wingdings</vt:lpstr>
      <vt:lpstr>Office Theme</vt:lpstr>
      <vt:lpstr>1_Office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Panchajanyam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Samanvaya — Capture. Connect. Cure.</dc:title>
  <dc:subject>SIH 2026 Idea Submission — SIH26047 Patient Case-Taking Software</dc:subject>
  <dc:creator>Sricharan</dc:creator>
  <cp:lastModifiedBy>Sricharan Sairi</cp:lastModifiedBy>
  <cp:revision>4</cp:revision>
  <dcterms:created xsi:type="dcterms:W3CDTF">2026-09-08T06:41:49Z</dcterms:created>
  <dcterms:modified xsi:type="dcterms:W3CDTF">2026-09-09T09:59:17Z</dcterms:modified>
</cp:coreProperties>
</file>