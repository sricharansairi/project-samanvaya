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3D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1234440"/>
            <a:ext cx="8778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Samanvaya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488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Capture.  Connect.  Cure.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7004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F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clinical history-taking &amp; document intake platform for India's AYUSH and allopathic OPDs.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3429000"/>
            <a:ext cx="777240" cy="777240"/>
          </a:xfrm>
          <a:prstGeom prst="ellipse">
            <a:avLst/>
          </a:prstGeom>
          <a:solidFill>
            <a:srgbClr val="1C7C6E"/>
          </a:solidFill>
          <a:ln/>
          <a:effectLst>
            <a:outerShdw sx="100000" sy="100000" kx="0" ky="0" algn="bl" rotWithShape="0" blurRad="76200" dist="25400" dir="5400000">
              <a:srgbClr val="1A2E2B">
                <a:alpha val="18000"/>
              </a:srgbClr>
            </a:outerShdw>
          </a:effectLst>
        </p:spPr>
      </p:sp>
      <p:pic>
        <p:nvPicPr>
          <p:cNvPr id="7" name="Image 0" descr="/home/claude/samanvaya/icons/m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162" y="3631082"/>
            <a:ext cx="373075" cy="37307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11480" y="427939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+ Touch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788920" y="3429000"/>
            <a:ext cx="777240" cy="777240"/>
          </a:xfrm>
          <a:prstGeom prst="ellipse">
            <a:avLst/>
          </a:prstGeom>
          <a:solidFill>
            <a:srgbClr val="1C7C6E"/>
          </a:solidFill>
          <a:ln/>
          <a:effectLst>
            <a:outerShdw sx="100000" sy="100000" kx="0" ky="0" algn="bl" rotWithShape="0" blurRad="76200" dist="25400" dir="5400000">
              <a:srgbClr val="1A2E2B">
                <a:alpha val="18000"/>
              </a:srgbClr>
            </a:outerShdw>
          </a:effectLst>
        </p:spPr>
      </p:sp>
      <p:pic>
        <p:nvPicPr>
          <p:cNvPr id="10" name="Image 1" descr="/home/claude/samanvaya/icons/came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1002" y="3631082"/>
            <a:ext cx="373075" cy="37307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560320" y="427939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AI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937760" y="3429000"/>
            <a:ext cx="777240" cy="777240"/>
          </a:xfrm>
          <a:prstGeom prst="ellipse">
            <a:avLst/>
          </a:prstGeom>
          <a:solidFill>
            <a:srgbClr val="1C7C6E"/>
          </a:solidFill>
          <a:ln/>
          <a:effectLst>
            <a:outerShdw sx="100000" sy="100000" kx="0" ky="0" algn="bl" rotWithShape="0" blurRad="76200" dist="25400" dir="5400000">
              <a:srgbClr val="1A2E2B">
                <a:alpha val="18000"/>
              </a:srgbClr>
            </a:outerShdw>
          </a:effectLst>
        </p:spPr>
      </p:sp>
      <p:pic>
        <p:nvPicPr>
          <p:cNvPr id="13" name="Image 2" descr="/home/claude/samanvaya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9842" y="3631082"/>
            <a:ext cx="373075" cy="37307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709160" y="427939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Net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640080" y="5074920"/>
            <a:ext cx="10881360" cy="0"/>
          </a:xfrm>
          <a:prstGeom prst="line">
            <a:avLst/>
          </a:prstGeom>
          <a:noFill/>
          <a:ln w="12700">
            <a:solidFill>
              <a:srgbClr val="2A5A54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40080" y="5303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3D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</a:t>
            </a:r>
            <a:endParaRPr lang="en-US" sz="950" dirty="0"/>
          </a:p>
        </p:txBody>
      </p:sp>
      <p:sp>
        <p:nvSpPr>
          <p:cNvPr id="17" name="Text 12"/>
          <p:cNvSpPr txBox="1"/>
          <p:nvPr/>
        </p:nvSpPr>
        <p:spPr>
          <a:xfrm>
            <a:off x="2971800" y="5303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SIH26047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6126480" y="5303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3D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950" dirty="0"/>
          </a:p>
        </p:txBody>
      </p:sp>
      <p:sp>
        <p:nvSpPr>
          <p:cNvPr id="19" name="Text 14"/>
          <p:cNvSpPr txBox="1"/>
          <p:nvPr/>
        </p:nvSpPr>
        <p:spPr>
          <a:xfrm>
            <a:off x="8458200" y="5303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MedTech / BioTech / HealthTech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640080" y="5760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3D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950" dirty="0"/>
          </a:p>
        </p:txBody>
      </p:sp>
      <p:sp>
        <p:nvSpPr>
          <p:cNvPr id="21" name="Text 16"/>
          <p:cNvSpPr txBox="1"/>
          <p:nvPr/>
        </p:nvSpPr>
        <p:spPr>
          <a:xfrm>
            <a:off x="2971800" y="5760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Panchajanyam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6126480" y="5760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3D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TITLE</a:t>
            </a:r>
            <a:endParaRPr lang="en-US" sz="950" dirty="0"/>
          </a:p>
        </p:txBody>
      </p:sp>
      <p:sp>
        <p:nvSpPr>
          <p:cNvPr id="23" name="Text 18"/>
          <p:cNvSpPr txBox="1"/>
          <p:nvPr/>
        </p:nvSpPr>
        <p:spPr>
          <a:xfrm>
            <a:off x="8458200" y="5760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Case-Taking Software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640080" y="6217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3D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CATEGORY</a:t>
            </a:r>
            <a:endParaRPr lang="en-US" sz="950" dirty="0"/>
          </a:p>
        </p:txBody>
      </p:sp>
      <p:sp>
        <p:nvSpPr>
          <p:cNvPr id="25" name="Text 20"/>
          <p:cNvSpPr txBox="1"/>
          <p:nvPr/>
        </p:nvSpPr>
        <p:spPr>
          <a:xfrm>
            <a:off x="2971800" y="6217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6126480" y="6217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3D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</a:t>
            </a:r>
            <a:endParaRPr lang="en-US" sz="950" dirty="0"/>
          </a:p>
        </p:txBody>
      </p:sp>
      <p:sp>
        <p:nvSpPr>
          <p:cNvPr id="27" name="Text 22"/>
          <p:cNvSpPr txBox="1"/>
          <p:nvPr/>
        </p:nvSpPr>
        <p:spPr>
          <a:xfrm>
            <a:off x="8458200" y="6217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updated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93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Idea Submission — Team Panchajanyam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Samanvaya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966960" y="32004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E4B4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66960" y="320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PANCHAJANYAM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170432"/>
            <a:ext cx="11183112" cy="0"/>
          </a:xfrm>
          <a:prstGeom prst="line">
            <a:avLst/>
          </a:prstGeom>
          <a:noFill/>
          <a:ln w="12700">
            <a:solidFill>
              <a:srgbClr val="DDE3E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Samanvaya  |  SIH26047  ·  Patient Case-Taking Software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52144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1335024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software platform that lets any patient build a complete medical history through voice and touch, digitize their existing documents, and hand the doctor a ready, structured case sheet — before the consultation even begins.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1993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359152"/>
            <a:ext cx="457200" cy="457200"/>
          </a:xfrm>
          <a:prstGeom prst="ellipse">
            <a:avLst/>
          </a:prstGeom>
          <a:solidFill>
            <a:srgbClr val="0E4B43"/>
          </a:solidFill>
          <a:ln/>
          <a:effectLst>
            <a:outerShdw sx="100000" sy="100000" kx="0" ky="0" algn="bl" rotWithShape="0" blurRad="76200" dist="25400" dir="5400000">
              <a:srgbClr val="1A2E2B">
                <a:alpha val="18000"/>
              </a:srgbClr>
            </a:outerShdw>
          </a:effectLst>
        </p:spPr>
      </p:sp>
      <p:pic>
        <p:nvPicPr>
          <p:cNvPr id="12" name="Image 0" descr="/home/claude/samanvaya/icons/m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478024"/>
            <a:ext cx="219456" cy="219456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143000" y="23317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+ Touch History Intake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143000" y="2615184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SOCRATES-style questioning in the patient's language, plus a dedicated AYUSH Dashavidha Pariksha mode for Ayurvedic OPDs.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02920" y="3346704"/>
            <a:ext cx="457200" cy="457200"/>
          </a:xfrm>
          <a:prstGeom prst="ellipse">
            <a:avLst/>
          </a:prstGeom>
          <a:solidFill>
            <a:srgbClr val="0E4B43"/>
          </a:solidFill>
          <a:ln/>
          <a:effectLst>
            <a:outerShdw sx="100000" sy="100000" kx="0" ky="0" algn="bl" rotWithShape="0" blurRad="76200" dist="25400" dir="5400000">
              <a:srgbClr val="1A2E2B">
                <a:alpha val="18000"/>
              </a:srgbClr>
            </a:outerShdw>
          </a:effectLst>
        </p:spPr>
      </p:sp>
      <p:pic>
        <p:nvPicPr>
          <p:cNvPr id="16" name="Image 1" descr="/home/claude/samanvaya/icons/filetex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3465576"/>
            <a:ext cx="219456" cy="219456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143000" y="33192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Digitization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1143000" y="3602736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handwritten prescriptions, lab reports and discharge summaries, then auto-dates them into one chronological timeline.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502920" y="4334256"/>
            <a:ext cx="457200" cy="457200"/>
          </a:xfrm>
          <a:prstGeom prst="ellipse">
            <a:avLst/>
          </a:prstGeom>
          <a:solidFill>
            <a:srgbClr val="0E4B43"/>
          </a:solidFill>
          <a:ln/>
          <a:effectLst>
            <a:outerShdw sx="100000" sy="100000" kx="0" ky="0" algn="bl" rotWithShape="0" blurRad="76200" dist="25400" dir="5400000">
              <a:srgbClr val="1A2E2B">
                <a:alpha val="18000"/>
              </a:srgbClr>
            </a:outerShdw>
          </a:effectLst>
        </p:spPr>
      </p:sp>
      <p:pic>
        <p:nvPicPr>
          <p:cNvPr id="20" name="Image 2" descr="/home/claude/samanvaya/icons/checksqua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453128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143000" y="430682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Case Summary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1143000" y="4590288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physician-ready Chief Complaint → HPI → History → ROS draft the doctor edits and confirms in seconds.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502920" y="5321808"/>
            <a:ext cx="457200" cy="457200"/>
          </a:xfrm>
          <a:prstGeom prst="ellipse">
            <a:avLst/>
          </a:prstGeom>
          <a:solidFill>
            <a:srgbClr val="0E4B43"/>
          </a:solidFill>
          <a:ln/>
          <a:effectLst>
            <a:outerShdw sx="100000" sy="100000" kx="0" ky="0" algn="bl" rotWithShape="0" blurRad="76200" dist="25400" dir="5400000">
              <a:srgbClr val="1A2E2B">
                <a:alpha val="18000"/>
              </a:srgbClr>
            </a:outerShdw>
          </a:effectLst>
        </p:spPr>
      </p:sp>
      <p:pic>
        <p:nvPicPr>
          <p:cNvPr id="24" name="Image 3" descr="/home/claude/samanvaya/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5440680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143000" y="529437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Consent, Privacy &amp; ABDM Push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1143000" y="557784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Act-compliant consent, ABHA linkage, and a direct FHIR push into the hospital's HIS.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6400800" y="1993392"/>
            <a:ext cx="5285232" cy="4251960"/>
          </a:xfrm>
          <a:prstGeom prst="roundRect">
            <a:avLst>
              <a:gd name="adj" fmla="val 1290"/>
            </a:avLst>
          </a:prstGeom>
          <a:solidFill>
            <a:srgbClr val="F6F7F5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6675120" y="21762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SAMANVAYA GOES FURTHER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6675120" y="2606040"/>
            <a:ext cx="420624" cy="420624"/>
          </a:xfrm>
          <a:prstGeom prst="ellipse">
            <a:avLst/>
          </a:prstGeom>
          <a:solidFill>
            <a:srgbClr val="D98E04"/>
          </a:solidFill>
          <a:ln/>
          <a:effectLst>
            <a:outerShdw sx="100000" sy="100000" kx="0" ky="0" algn="bl" rotWithShape="0" blurRad="76200" dist="25400" dir="5400000">
              <a:srgbClr val="1A2E2B">
                <a:alpha val="18000"/>
              </a:srgbClr>
            </a:outerShdw>
          </a:effectLst>
        </p:spPr>
      </p:sp>
      <p:pic>
        <p:nvPicPr>
          <p:cNvPr id="30" name="Image 4" descr="/home/claude/samanvaya/icons/cpu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4482" y="2715402"/>
            <a:ext cx="201900" cy="20190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269480" y="257860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Dual-Branch AI Core</a:t>
            </a:r>
            <a:endParaRPr lang="en-US" sz="1250" dirty="0"/>
          </a:p>
        </p:txBody>
      </p:sp>
      <p:sp>
        <p:nvSpPr>
          <p:cNvPr id="32" name="Text 25"/>
          <p:cNvSpPr txBox="1"/>
          <p:nvPr/>
        </p:nvSpPr>
        <p:spPr>
          <a:xfrm>
            <a:off x="7269480" y="2852928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general-reasoning model and a dedicated medical-language model cross-check every summary before it reaches the doctor.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6675120" y="3502152"/>
            <a:ext cx="420624" cy="420624"/>
          </a:xfrm>
          <a:prstGeom prst="ellipse">
            <a:avLst/>
          </a:prstGeom>
          <a:solidFill>
            <a:srgbClr val="D98E04"/>
          </a:solidFill>
          <a:ln/>
          <a:effectLst>
            <a:outerShdw sx="100000" sy="100000" kx="0" ky="0" algn="bl" rotWithShape="0" blurRad="76200" dist="25400" dir="5400000">
              <a:srgbClr val="1A2E2B">
                <a:alpha val="18000"/>
              </a:srgbClr>
            </a:outerShdw>
          </a:effectLst>
        </p:spPr>
      </p:sp>
      <p:pic>
        <p:nvPicPr>
          <p:cNvPr id="34" name="Image 5" descr="/home/claude/samanvaya/icons/activit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4482" y="3611514"/>
            <a:ext cx="201900" cy="20190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7269480" y="347472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Safety Net</a:t>
            </a:r>
            <a:endParaRPr lang="en-US" sz="1250" dirty="0"/>
          </a:p>
        </p:txBody>
      </p:sp>
      <p:sp>
        <p:nvSpPr>
          <p:cNvPr id="36" name="Text 28"/>
          <p:cNvSpPr txBox="1"/>
          <p:nvPr/>
        </p:nvSpPr>
        <p:spPr>
          <a:xfrm>
            <a:off x="7269480" y="374904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emergency red-flag symptoms and drug-drug interactions in real time — not just at intake.</a:t>
            </a:r>
            <a:endParaRPr lang="en-US" sz="1000" dirty="0"/>
          </a:p>
        </p:txBody>
      </p:sp>
      <p:sp>
        <p:nvSpPr>
          <p:cNvPr id="37" name="Shape 29"/>
          <p:cNvSpPr/>
          <p:nvPr/>
        </p:nvSpPr>
        <p:spPr>
          <a:xfrm>
            <a:off x="6675120" y="4398264"/>
            <a:ext cx="420624" cy="420624"/>
          </a:xfrm>
          <a:prstGeom prst="ellipse">
            <a:avLst/>
          </a:prstGeom>
          <a:solidFill>
            <a:srgbClr val="D98E04"/>
          </a:solidFill>
          <a:ln/>
          <a:effectLst>
            <a:outerShdw sx="100000" sy="100000" kx="0" ky="0" algn="bl" rotWithShape="0" blurRad="76200" dist="25400" dir="5400000">
              <a:srgbClr val="1A2E2B">
                <a:alpha val="18000"/>
              </a:srgbClr>
            </a:outerShdw>
          </a:effectLst>
        </p:spPr>
      </p:sp>
      <p:pic>
        <p:nvPicPr>
          <p:cNvPr id="38" name="Image 6" descr="/home/claude/samanvaya/icons/percen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4482" y="4507626"/>
            <a:ext cx="201900" cy="201900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7269480" y="4370832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Scheme Navigator</a:t>
            </a:r>
            <a:endParaRPr lang="en-US" sz="1250" dirty="0"/>
          </a:p>
        </p:txBody>
      </p:sp>
      <p:sp>
        <p:nvSpPr>
          <p:cNvPr id="40" name="Text 31"/>
          <p:cNvSpPr txBox="1"/>
          <p:nvPr/>
        </p:nvSpPr>
        <p:spPr>
          <a:xfrm>
            <a:off x="7269480" y="4645152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PM-JAY / state scheme eligibility and shows generic-medicine savings via Jan Aushadhi — on the spot.</a:t>
            </a:r>
            <a:endParaRPr lang="en-US" sz="1000" dirty="0"/>
          </a:p>
        </p:txBody>
      </p:sp>
      <p:sp>
        <p:nvSpPr>
          <p:cNvPr id="41" name="Shape 32"/>
          <p:cNvSpPr/>
          <p:nvPr/>
        </p:nvSpPr>
        <p:spPr>
          <a:xfrm>
            <a:off x="6675120" y="5294376"/>
            <a:ext cx="420624" cy="420624"/>
          </a:xfrm>
          <a:prstGeom prst="ellipse">
            <a:avLst/>
          </a:prstGeom>
          <a:solidFill>
            <a:srgbClr val="D98E04"/>
          </a:solidFill>
          <a:ln/>
          <a:effectLst>
            <a:outerShdw sx="100000" sy="100000" kx="0" ky="0" algn="bl" rotWithShape="0" blurRad="76200" dist="25400" dir="5400000">
              <a:srgbClr val="1A2E2B">
                <a:alpha val="18000"/>
              </a:srgbClr>
            </a:outerShdw>
          </a:effectLst>
        </p:spPr>
      </p:sp>
      <p:pic>
        <p:nvPicPr>
          <p:cNvPr id="42" name="Image 7" descr="/home/claude/samanvaya/icons/glob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84482" y="5403738"/>
            <a:ext cx="201900" cy="201900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7269480" y="5266944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Vernacular-First, Not Translated</a:t>
            </a:r>
            <a:endParaRPr lang="en-US" sz="1250" dirty="0"/>
          </a:p>
        </p:txBody>
      </p:sp>
      <p:sp>
        <p:nvSpPr>
          <p:cNvPr id="44" name="Text 34"/>
          <p:cNvSpPr txBox="1"/>
          <p:nvPr/>
        </p:nvSpPr>
        <p:spPr>
          <a:xfrm>
            <a:off x="7269480" y="5541264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around India's languages and literacy levels from the ground up, not a translated English UI.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Samanvaya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966960" y="32004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E4B4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66960" y="320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PANCHAJANYAM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170432"/>
            <a:ext cx="11183112" cy="0"/>
          </a:xfrm>
          <a:prstGeom prst="line">
            <a:avLst/>
          </a:prstGeom>
          <a:noFill/>
          <a:ln w="12700">
            <a:solidFill>
              <a:srgbClr val="DDE3E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Samanvaya  |  SIH26047  ·  Patient Case-Taking Software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52144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13350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PATIENT JOURNEY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1737360"/>
            <a:ext cx="2148840" cy="1417320"/>
          </a:xfrm>
          <a:prstGeom prst="roundRect">
            <a:avLst>
              <a:gd name="adj" fmla="val 3871"/>
            </a:avLst>
          </a:prstGeom>
          <a:solidFill>
            <a:srgbClr val="F6F7F5"/>
          </a:solidFill>
          <a:ln/>
        </p:spPr>
      </p:sp>
      <p:sp>
        <p:nvSpPr>
          <p:cNvPr id="11" name="Shape 9"/>
          <p:cNvSpPr/>
          <p:nvPr/>
        </p:nvSpPr>
        <p:spPr>
          <a:xfrm>
            <a:off x="1321308" y="1901952"/>
            <a:ext cx="512064" cy="512064"/>
          </a:xfrm>
          <a:prstGeom prst="ellipse">
            <a:avLst/>
          </a:prstGeom>
          <a:solidFill>
            <a:srgbClr val="0E4B43"/>
          </a:solidFill>
          <a:ln/>
          <a:effectLst>
            <a:outerShdw sx="100000" sy="100000" kx="0" ky="0" algn="bl" rotWithShape="0" blurRad="76200" dist="25400" dir="5400000">
              <a:srgbClr val="1A2E2B">
                <a:alpha val="18000"/>
              </a:srgbClr>
            </a:outerShdw>
          </a:effectLst>
        </p:spPr>
      </p:sp>
      <p:pic>
        <p:nvPicPr>
          <p:cNvPr id="12" name="Image 0" descr="/home/claude/samanvaya/icons/k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4445" y="2035089"/>
            <a:ext cx="245791" cy="245791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2267712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12648" y="2487168"/>
            <a:ext cx="1929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612648" y="2743200"/>
            <a:ext cx="192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in via ABHA / Aadhaar or registers new; selects language; gives audio-guided consent.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 rot="5400000">
            <a:off x="2656332" y="2340864"/>
            <a:ext cx="146304" cy="201168"/>
          </a:xfrm>
          <a:prstGeom prst="triangle">
            <a:avLst/>
          </a:prstGeom>
          <a:solidFill>
            <a:srgbClr val="D98E04"/>
          </a:solidFill>
          <a:ln/>
        </p:spPr>
      </p:sp>
      <p:sp>
        <p:nvSpPr>
          <p:cNvPr id="17" name="Shape 14"/>
          <p:cNvSpPr/>
          <p:nvPr/>
        </p:nvSpPr>
        <p:spPr>
          <a:xfrm>
            <a:off x="2770632" y="1737360"/>
            <a:ext cx="2148840" cy="1417320"/>
          </a:xfrm>
          <a:prstGeom prst="roundRect">
            <a:avLst>
              <a:gd name="adj" fmla="val 3871"/>
            </a:avLst>
          </a:prstGeom>
          <a:solidFill>
            <a:srgbClr val="F6F7F5"/>
          </a:solidFill>
          <a:ln/>
        </p:spPr>
      </p:sp>
      <p:sp>
        <p:nvSpPr>
          <p:cNvPr id="18" name="Shape 15"/>
          <p:cNvSpPr/>
          <p:nvPr/>
        </p:nvSpPr>
        <p:spPr>
          <a:xfrm>
            <a:off x="3589020" y="1901952"/>
            <a:ext cx="512064" cy="512064"/>
          </a:xfrm>
          <a:prstGeom prst="ellipse">
            <a:avLst/>
          </a:prstGeom>
          <a:solidFill>
            <a:srgbClr val="0E4B43"/>
          </a:solidFill>
          <a:ln/>
          <a:effectLst>
            <a:outerShdw sx="100000" sy="100000" kx="0" ky="0" algn="bl" rotWithShape="0" blurRad="76200" dist="25400" dir="5400000">
              <a:srgbClr val="1A2E2B">
                <a:alpha val="18000"/>
              </a:srgbClr>
            </a:outerShdw>
          </a:effectLst>
        </p:spPr>
      </p:sp>
      <p:pic>
        <p:nvPicPr>
          <p:cNvPr id="19" name="Image 1" descr="/home/claude/samanvaya/icons/m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2157" y="2035089"/>
            <a:ext cx="245791" cy="245791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4535424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2880360" y="2487168"/>
            <a:ext cx="1929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Converse</a:t>
            </a:r>
            <a:endParaRPr lang="en-US" sz="1250" dirty="0"/>
          </a:p>
        </p:txBody>
      </p:sp>
      <p:sp>
        <p:nvSpPr>
          <p:cNvPr id="22" name="Text 18"/>
          <p:cNvSpPr txBox="1"/>
          <p:nvPr/>
        </p:nvSpPr>
        <p:spPr>
          <a:xfrm>
            <a:off x="2880360" y="2743200"/>
            <a:ext cx="192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voice + touch interview captures chief complaint, HPI and full history; red flags trigger priority.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 rot="5400000">
            <a:off x="4924044" y="2340864"/>
            <a:ext cx="146304" cy="201168"/>
          </a:xfrm>
          <a:prstGeom prst="triangle">
            <a:avLst/>
          </a:prstGeom>
          <a:solidFill>
            <a:srgbClr val="D98E04"/>
          </a:solidFill>
          <a:ln/>
        </p:spPr>
      </p:sp>
      <p:sp>
        <p:nvSpPr>
          <p:cNvPr id="24" name="Shape 20"/>
          <p:cNvSpPr/>
          <p:nvPr/>
        </p:nvSpPr>
        <p:spPr>
          <a:xfrm>
            <a:off x="5038344" y="1737360"/>
            <a:ext cx="2148840" cy="1417320"/>
          </a:xfrm>
          <a:prstGeom prst="roundRect">
            <a:avLst>
              <a:gd name="adj" fmla="val 3871"/>
            </a:avLst>
          </a:prstGeom>
          <a:solidFill>
            <a:srgbClr val="F6F7F5"/>
          </a:solidFill>
          <a:ln/>
        </p:spPr>
      </p:sp>
      <p:sp>
        <p:nvSpPr>
          <p:cNvPr id="25" name="Shape 21"/>
          <p:cNvSpPr/>
          <p:nvPr/>
        </p:nvSpPr>
        <p:spPr>
          <a:xfrm>
            <a:off x="5856732" y="1901952"/>
            <a:ext cx="512064" cy="512064"/>
          </a:xfrm>
          <a:prstGeom prst="ellipse">
            <a:avLst/>
          </a:prstGeom>
          <a:solidFill>
            <a:srgbClr val="0E4B43"/>
          </a:solidFill>
          <a:ln/>
          <a:effectLst>
            <a:outerShdw sx="100000" sy="100000" kx="0" ky="0" algn="bl" rotWithShape="0" blurRad="76200" dist="25400" dir="5400000">
              <a:srgbClr val="1A2E2B">
                <a:alpha val="18000"/>
              </a:srgbClr>
            </a:outerShdw>
          </a:effectLst>
        </p:spPr>
      </p:sp>
      <p:pic>
        <p:nvPicPr>
          <p:cNvPr id="26" name="Image 2" descr="/home/claude/samanvaya/icons/camer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869" y="2035089"/>
            <a:ext cx="245791" cy="245791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6803136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8" name="Text 23"/>
          <p:cNvSpPr txBox="1"/>
          <p:nvPr/>
        </p:nvSpPr>
        <p:spPr>
          <a:xfrm>
            <a:off x="5148072" y="2487168"/>
            <a:ext cx="1929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250" dirty="0"/>
          </a:p>
        </p:txBody>
      </p:sp>
      <p:sp>
        <p:nvSpPr>
          <p:cNvPr id="29" name="Text 24"/>
          <p:cNvSpPr txBox="1"/>
          <p:nvPr/>
        </p:nvSpPr>
        <p:spPr>
          <a:xfrm>
            <a:off x="5148072" y="2743200"/>
            <a:ext cx="192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prior prescriptions, reports and summaries; AI digitizes and timelines them.</a:t>
            </a:r>
            <a:endParaRPr lang="en-US" sz="800" dirty="0"/>
          </a:p>
        </p:txBody>
      </p:sp>
      <p:sp>
        <p:nvSpPr>
          <p:cNvPr id="30" name="Shape 25"/>
          <p:cNvSpPr/>
          <p:nvPr/>
        </p:nvSpPr>
        <p:spPr>
          <a:xfrm rot="5400000">
            <a:off x="7191756" y="2340864"/>
            <a:ext cx="146304" cy="201168"/>
          </a:xfrm>
          <a:prstGeom prst="triangle">
            <a:avLst/>
          </a:prstGeom>
          <a:solidFill>
            <a:srgbClr val="D98E04"/>
          </a:solidFill>
          <a:ln/>
        </p:spPr>
      </p:sp>
      <p:sp>
        <p:nvSpPr>
          <p:cNvPr id="31" name="Shape 26"/>
          <p:cNvSpPr/>
          <p:nvPr/>
        </p:nvSpPr>
        <p:spPr>
          <a:xfrm>
            <a:off x="7306056" y="1737360"/>
            <a:ext cx="2148840" cy="1417320"/>
          </a:xfrm>
          <a:prstGeom prst="roundRect">
            <a:avLst>
              <a:gd name="adj" fmla="val 3871"/>
            </a:avLst>
          </a:prstGeom>
          <a:solidFill>
            <a:srgbClr val="F6F7F5"/>
          </a:solidFill>
          <a:ln/>
        </p:spPr>
      </p:sp>
      <p:sp>
        <p:nvSpPr>
          <p:cNvPr id="32" name="Shape 27"/>
          <p:cNvSpPr/>
          <p:nvPr/>
        </p:nvSpPr>
        <p:spPr>
          <a:xfrm>
            <a:off x="8124444" y="1901952"/>
            <a:ext cx="512064" cy="512064"/>
          </a:xfrm>
          <a:prstGeom prst="ellipse">
            <a:avLst/>
          </a:prstGeom>
          <a:solidFill>
            <a:srgbClr val="0E4B43"/>
          </a:solidFill>
          <a:ln/>
          <a:effectLst>
            <a:outerShdw sx="100000" sy="100000" kx="0" ky="0" algn="bl" rotWithShape="0" blurRad="76200" dist="25400" dir="5400000">
              <a:srgbClr val="1A2E2B">
                <a:alpha val="18000"/>
              </a:srgbClr>
            </a:outerShdw>
          </a:effectLst>
        </p:spPr>
      </p:sp>
      <p:pic>
        <p:nvPicPr>
          <p:cNvPr id="33" name="Image 3" descr="/home/claude/samanvaya/icons/se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7581" y="2035089"/>
            <a:ext cx="245791" cy="245791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9070848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35" name="Text 29"/>
          <p:cNvSpPr txBox="1"/>
          <p:nvPr/>
        </p:nvSpPr>
        <p:spPr>
          <a:xfrm>
            <a:off x="7415784" y="2487168"/>
            <a:ext cx="1929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&amp; Route</a:t>
            </a:r>
            <a:endParaRPr lang="en-US" sz="1250" dirty="0"/>
          </a:p>
        </p:txBody>
      </p:sp>
      <p:sp>
        <p:nvSpPr>
          <p:cNvPr id="36" name="Text 30"/>
          <p:cNvSpPr txBox="1"/>
          <p:nvPr/>
        </p:nvSpPr>
        <p:spPr>
          <a:xfrm>
            <a:off x="7415784" y="2743200"/>
            <a:ext cx="192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the structured summary, links to ABHA, and pushes it to the hospital HIS.</a:t>
            </a:r>
            <a:endParaRPr lang="en-US" sz="800" dirty="0"/>
          </a:p>
        </p:txBody>
      </p:sp>
      <p:sp>
        <p:nvSpPr>
          <p:cNvPr id="37" name="Shape 31"/>
          <p:cNvSpPr/>
          <p:nvPr/>
        </p:nvSpPr>
        <p:spPr>
          <a:xfrm rot="5400000">
            <a:off x="9459468" y="2340864"/>
            <a:ext cx="146304" cy="201168"/>
          </a:xfrm>
          <a:prstGeom prst="triangle">
            <a:avLst/>
          </a:prstGeom>
          <a:solidFill>
            <a:srgbClr val="D98E04"/>
          </a:solidFill>
          <a:ln/>
        </p:spPr>
      </p:sp>
      <p:sp>
        <p:nvSpPr>
          <p:cNvPr id="38" name="Shape 32"/>
          <p:cNvSpPr/>
          <p:nvPr/>
        </p:nvSpPr>
        <p:spPr>
          <a:xfrm>
            <a:off x="9573768" y="1737360"/>
            <a:ext cx="2148840" cy="1417320"/>
          </a:xfrm>
          <a:prstGeom prst="roundRect">
            <a:avLst>
              <a:gd name="adj" fmla="val 3871"/>
            </a:avLst>
          </a:prstGeom>
          <a:solidFill>
            <a:srgbClr val="F6F7F5"/>
          </a:solidFill>
          <a:ln/>
        </p:spPr>
      </p:sp>
      <p:sp>
        <p:nvSpPr>
          <p:cNvPr id="39" name="Shape 33"/>
          <p:cNvSpPr/>
          <p:nvPr/>
        </p:nvSpPr>
        <p:spPr>
          <a:xfrm>
            <a:off x="10392156" y="1901952"/>
            <a:ext cx="512064" cy="512064"/>
          </a:xfrm>
          <a:prstGeom prst="ellipse">
            <a:avLst/>
          </a:prstGeom>
          <a:solidFill>
            <a:srgbClr val="0E4B43"/>
          </a:solidFill>
          <a:ln/>
          <a:effectLst>
            <a:outerShdw sx="100000" sy="100000" kx="0" ky="0" algn="bl" rotWithShape="0" blurRad="76200" dist="25400" dir="5400000">
              <a:srgbClr val="1A2E2B">
                <a:alpha val="18000"/>
              </a:srgbClr>
            </a:outerShdw>
          </a:effectLst>
        </p:spPr>
      </p:sp>
      <p:pic>
        <p:nvPicPr>
          <p:cNvPr id="40" name="Image 4" descr="/home/claude/samanvaya/icons/user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5293" y="2035089"/>
            <a:ext cx="245791" cy="245791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11338560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42" name="Text 35"/>
          <p:cNvSpPr txBox="1"/>
          <p:nvPr/>
        </p:nvSpPr>
        <p:spPr>
          <a:xfrm>
            <a:off x="9683496" y="2487168"/>
            <a:ext cx="1929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</a:t>
            </a:r>
            <a:endParaRPr lang="en-US" sz="1250" dirty="0"/>
          </a:p>
        </p:txBody>
      </p:sp>
      <p:sp>
        <p:nvSpPr>
          <p:cNvPr id="43" name="Text 36"/>
          <p:cNvSpPr txBox="1"/>
          <p:nvPr/>
        </p:nvSpPr>
        <p:spPr>
          <a:xfrm>
            <a:off x="9683496" y="2743200"/>
            <a:ext cx="192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reviews the ready history in seconds and spends the full visit on examination and care.</a:t>
            </a:r>
            <a:endParaRPr lang="en-US" sz="800" dirty="0"/>
          </a:p>
        </p:txBody>
      </p:sp>
      <p:sp>
        <p:nvSpPr>
          <p:cNvPr id="44" name="Text 37"/>
          <p:cNvSpPr txBox="1"/>
          <p:nvPr/>
        </p:nvSpPr>
        <p:spPr>
          <a:xfrm>
            <a:off x="502920" y="34290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CORE — DUAL-BRANCH ARCHITECTURE</a:t>
            </a:r>
            <a:endParaRPr lang="en-US" sz="1150" dirty="0"/>
          </a:p>
        </p:txBody>
      </p:sp>
      <p:sp>
        <p:nvSpPr>
          <p:cNvPr id="45" name="Shape 38"/>
          <p:cNvSpPr/>
          <p:nvPr/>
        </p:nvSpPr>
        <p:spPr>
          <a:xfrm>
            <a:off x="502920" y="3767328"/>
            <a:ext cx="32461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5875">
            <a:solidFill>
              <a:srgbClr val="0E4B43"/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713232" y="3950208"/>
            <a:ext cx="384048" cy="384048"/>
          </a:xfrm>
          <a:prstGeom prst="ellipse">
            <a:avLst/>
          </a:prstGeom>
          <a:solidFill>
            <a:srgbClr val="0E4B43"/>
          </a:solidFill>
          <a:ln/>
          <a:effectLst>
            <a:outerShdw sx="100000" sy="100000" kx="0" ky="0" algn="bl" rotWithShape="0" blurRad="76200" dist="25400" dir="5400000">
              <a:srgbClr val="1A2E2B">
                <a:alpha val="18000"/>
              </a:srgbClr>
            </a:outerShdw>
          </a:effectLst>
        </p:spPr>
      </p:sp>
      <p:pic>
        <p:nvPicPr>
          <p:cNvPr id="47" name="Image 5" descr="/home/claude/samanvaya/icons/glob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084" y="4050060"/>
            <a:ext cx="184343" cy="184343"/>
          </a:xfrm>
          <a:prstGeom prst="rect">
            <a:avLst/>
          </a:prstGeom>
        </p:spPr>
      </p:pic>
      <p:sp>
        <p:nvSpPr>
          <p:cNvPr id="48" name="Text 40"/>
          <p:cNvSpPr txBox="1"/>
          <p:nvPr/>
        </p:nvSpPr>
        <p:spPr>
          <a:xfrm>
            <a:off x="1207008" y="395020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Reasoning Branch</a:t>
            </a:r>
            <a:endParaRPr lang="en-US" sz="1200" dirty="0"/>
          </a:p>
        </p:txBody>
      </p:sp>
      <p:sp>
        <p:nvSpPr>
          <p:cNvPr id="49" name="Text 41"/>
          <p:cNvSpPr txBox="1"/>
          <p:nvPr/>
        </p:nvSpPr>
        <p:spPr>
          <a:xfrm>
            <a:off x="713232" y="445312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understanding, colloquial symptom parsing, entity extraction.</a:t>
            </a:r>
            <a:endParaRPr lang="en-US" sz="950" dirty="0"/>
          </a:p>
        </p:txBody>
      </p:sp>
      <p:sp>
        <p:nvSpPr>
          <p:cNvPr id="50" name="Shape 42"/>
          <p:cNvSpPr/>
          <p:nvPr/>
        </p:nvSpPr>
        <p:spPr>
          <a:xfrm>
            <a:off x="4160520" y="3767328"/>
            <a:ext cx="32461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5875">
            <a:solidFill>
              <a:srgbClr val="D98E04"/>
            </a:solidFill>
            <a:prstDash val="solid"/>
          </a:ln>
        </p:spPr>
      </p:sp>
      <p:sp>
        <p:nvSpPr>
          <p:cNvPr id="51" name="Shape 43"/>
          <p:cNvSpPr/>
          <p:nvPr/>
        </p:nvSpPr>
        <p:spPr>
          <a:xfrm>
            <a:off x="4370832" y="3950208"/>
            <a:ext cx="384048" cy="384048"/>
          </a:xfrm>
          <a:prstGeom prst="ellipse">
            <a:avLst/>
          </a:prstGeom>
          <a:solidFill>
            <a:srgbClr val="D98E04"/>
          </a:solidFill>
          <a:ln/>
          <a:effectLst>
            <a:outerShdw sx="100000" sy="100000" kx="0" ky="0" algn="bl" rotWithShape="0" blurRad="76200" dist="25400" dir="5400000">
              <a:srgbClr val="1A2E2B">
                <a:alpha val="18000"/>
              </a:srgbClr>
            </a:outerShdw>
          </a:effectLst>
        </p:spPr>
      </p:sp>
      <p:pic>
        <p:nvPicPr>
          <p:cNvPr id="52" name="Image 6" descr="/home/claude/samanvaya/icons/activit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70684" y="4050060"/>
            <a:ext cx="184343" cy="184343"/>
          </a:xfrm>
          <a:prstGeom prst="rect">
            <a:avLst/>
          </a:prstGeom>
        </p:spPr>
      </p:pic>
      <p:sp>
        <p:nvSpPr>
          <p:cNvPr id="53" name="Text 44"/>
          <p:cNvSpPr txBox="1"/>
          <p:nvPr/>
        </p:nvSpPr>
        <p:spPr>
          <a:xfrm>
            <a:off x="4864608" y="395020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Specialist Branch</a:t>
            </a:r>
            <a:endParaRPr lang="en-US" sz="1200" dirty="0"/>
          </a:p>
        </p:txBody>
      </p:sp>
      <p:sp>
        <p:nvSpPr>
          <p:cNvPr id="54" name="Text 45"/>
          <p:cNvSpPr txBox="1"/>
          <p:nvPr/>
        </p:nvSpPr>
        <p:spPr>
          <a:xfrm>
            <a:off x="4370832" y="445312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Clinical-domain model grounded in treatment-guideline corpora; verifies accuracy, flags interactions.</a:t>
            </a:r>
            <a:endParaRPr lang="en-US" sz="950" dirty="0"/>
          </a:p>
        </p:txBody>
      </p:sp>
      <p:sp>
        <p:nvSpPr>
          <p:cNvPr id="55" name="Text 46"/>
          <p:cNvSpPr txBox="1"/>
          <p:nvPr/>
        </p:nvSpPr>
        <p:spPr>
          <a:xfrm>
            <a:off x="7452360" y="427024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56" name="Shape 47"/>
          <p:cNvSpPr/>
          <p:nvPr/>
        </p:nvSpPr>
        <p:spPr>
          <a:xfrm>
            <a:off x="7909560" y="3767328"/>
            <a:ext cx="3383280" cy="1417320"/>
          </a:xfrm>
          <a:prstGeom prst="roundRect">
            <a:avLst>
              <a:gd name="adj" fmla="val 3871"/>
            </a:avLst>
          </a:prstGeom>
          <a:solidFill>
            <a:srgbClr val="0E4B43"/>
          </a:solidFill>
          <a:ln/>
        </p:spPr>
      </p:sp>
      <p:sp>
        <p:nvSpPr>
          <p:cNvPr id="57" name="Shape 48"/>
          <p:cNvSpPr/>
          <p:nvPr/>
        </p:nvSpPr>
        <p:spPr>
          <a:xfrm>
            <a:off x="8138160" y="3950208"/>
            <a:ext cx="384048" cy="384048"/>
          </a:xfrm>
          <a:prstGeom prst="ellipse">
            <a:avLst/>
          </a:prstGeom>
          <a:solidFill>
            <a:srgbClr val="D98E04"/>
          </a:solidFill>
          <a:ln/>
          <a:effectLst>
            <a:outerShdw sx="100000" sy="100000" kx="0" ky="0" algn="bl" rotWithShape="0" blurRad="76200" dist="25400" dir="5400000">
              <a:srgbClr val="1A2E2B">
                <a:alpha val="18000"/>
              </a:srgbClr>
            </a:outerShdw>
          </a:effectLst>
        </p:spPr>
      </p:sp>
      <p:pic>
        <p:nvPicPr>
          <p:cNvPr id="58" name="Image 7" descr="/home/claude/samanvaya/icons/checksquar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38012" y="4050060"/>
            <a:ext cx="184343" cy="184343"/>
          </a:xfrm>
          <a:prstGeom prst="rect">
            <a:avLst/>
          </a:prstGeom>
        </p:spPr>
      </p:pic>
      <p:sp>
        <p:nvSpPr>
          <p:cNvPr id="59" name="Text 49"/>
          <p:cNvSpPr txBox="1"/>
          <p:nvPr/>
        </p:nvSpPr>
        <p:spPr>
          <a:xfrm>
            <a:off x="8631936" y="39502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&amp; Safety Layer</a:t>
            </a:r>
            <a:endParaRPr lang="en-US" sz="1200" dirty="0"/>
          </a:p>
        </p:txBody>
      </p:sp>
      <p:sp>
        <p:nvSpPr>
          <p:cNvPr id="60" name="Text 50"/>
          <p:cNvSpPr txBox="1"/>
          <p:nvPr/>
        </p:nvSpPr>
        <p:spPr>
          <a:xfrm>
            <a:off x="8138160" y="445312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branches must agree before a summary reaches the doctor's screen.</a:t>
            </a:r>
            <a:endParaRPr lang="en-US" sz="950" dirty="0"/>
          </a:p>
        </p:txBody>
      </p:sp>
      <p:sp>
        <p:nvSpPr>
          <p:cNvPr id="61" name="Text 51"/>
          <p:cNvSpPr txBox="1"/>
          <p:nvPr/>
        </p:nvSpPr>
        <p:spPr>
          <a:xfrm>
            <a:off x="502920" y="54406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50" dirty="0"/>
          </a:p>
        </p:txBody>
      </p:sp>
      <p:sp>
        <p:nvSpPr>
          <p:cNvPr id="62" name="Text 52"/>
          <p:cNvSpPr txBox="1"/>
          <p:nvPr/>
        </p:nvSpPr>
        <p:spPr>
          <a:xfrm>
            <a:off x="502920" y="56692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PWA — tablets &amp; desktops already in OPDs</a:t>
            </a:r>
            <a:endParaRPr lang="en-US" sz="950" dirty="0"/>
          </a:p>
        </p:txBody>
      </p:sp>
      <p:sp>
        <p:nvSpPr>
          <p:cNvPr id="63" name="Text 53"/>
          <p:cNvSpPr txBox="1"/>
          <p:nvPr/>
        </p:nvSpPr>
        <p:spPr>
          <a:xfrm>
            <a:off x="3246120" y="54406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AI</a:t>
            </a:r>
            <a:endParaRPr lang="en-US" sz="950" dirty="0"/>
          </a:p>
        </p:txBody>
      </p:sp>
      <p:sp>
        <p:nvSpPr>
          <p:cNvPr id="64" name="Text 54"/>
          <p:cNvSpPr txBox="1"/>
          <p:nvPr/>
        </p:nvSpPr>
        <p:spPr>
          <a:xfrm>
            <a:off x="3246120" y="56692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 ASR / TTS via Bhashini</a:t>
            </a:r>
            <a:endParaRPr lang="en-US" sz="950" dirty="0"/>
          </a:p>
        </p:txBody>
      </p:sp>
      <p:sp>
        <p:nvSpPr>
          <p:cNvPr id="65" name="Text 55"/>
          <p:cNvSpPr txBox="1"/>
          <p:nvPr/>
        </p:nvSpPr>
        <p:spPr>
          <a:xfrm>
            <a:off x="5989320" y="54406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950" dirty="0"/>
          </a:p>
        </p:txBody>
      </p:sp>
      <p:sp>
        <p:nvSpPr>
          <p:cNvPr id="66" name="Text 56"/>
          <p:cNvSpPr txBox="1"/>
          <p:nvPr/>
        </p:nvSpPr>
        <p:spPr>
          <a:xfrm>
            <a:off x="5989320" y="56692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document-structuring engine</a:t>
            </a:r>
            <a:endParaRPr lang="en-US" sz="950" dirty="0"/>
          </a:p>
        </p:txBody>
      </p:sp>
      <p:sp>
        <p:nvSpPr>
          <p:cNvPr id="67" name="Text 57"/>
          <p:cNvSpPr txBox="1"/>
          <p:nvPr/>
        </p:nvSpPr>
        <p:spPr>
          <a:xfrm>
            <a:off x="8732520" y="54406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950" dirty="0"/>
          </a:p>
        </p:txBody>
      </p:sp>
      <p:sp>
        <p:nvSpPr>
          <p:cNvPr id="68" name="Text 58"/>
          <p:cNvSpPr txBox="1"/>
          <p:nvPr/>
        </p:nvSpPr>
        <p:spPr>
          <a:xfrm>
            <a:off x="8732520" y="56692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 + ABDM APIs, encrypted, session-purged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AND VIABILITY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Grounded, Not Speculative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966960" y="32004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E4B4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66960" y="320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PANCHAJANYAM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170432"/>
            <a:ext cx="11183112" cy="0"/>
          </a:xfrm>
          <a:prstGeom prst="line">
            <a:avLst/>
          </a:prstGeom>
          <a:noFill/>
          <a:ln w="12700">
            <a:solidFill>
              <a:srgbClr val="DDE3E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Samanvaya  |  SIH26047  ·  Patient Case-Taking Software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52144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353312"/>
            <a:ext cx="3520440" cy="2606040"/>
          </a:xfrm>
          <a:prstGeom prst="roundRect">
            <a:avLst>
              <a:gd name="adj" fmla="val 2105"/>
            </a:avLst>
          </a:prstGeom>
          <a:solidFill>
            <a:srgbClr val="F6F7F5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1572768"/>
            <a:ext cx="457200" cy="457200"/>
          </a:xfrm>
          <a:prstGeom prst="ellipse">
            <a:avLst/>
          </a:prstGeom>
          <a:solidFill>
            <a:srgbClr val="0E4B43"/>
          </a:solidFill>
          <a:ln/>
          <a:effectLst>
            <a:outerShdw sx="100000" sy="100000" kx="0" ky="0" algn="bl" rotWithShape="0" blurRad="76200" dist="25400" dir="5400000">
              <a:srgbClr val="1A2E2B">
                <a:alpha val="18000"/>
              </a:srgbClr>
            </a:outerShdw>
          </a:effectLst>
        </p:spPr>
      </p:sp>
      <p:pic>
        <p:nvPicPr>
          <p:cNvPr id="11" name="Image 0" descr="/home/claude/samanvaya/icons/cp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691640"/>
            <a:ext cx="219456" cy="2194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325880" y="162763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3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Feasibility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221284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proven building blocks — conversational LLMs, OCR, and India's own Bhashini voice APIs.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29260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ABDM's FHIR APIs and ABHA already provide the interoperability layer; Samanvaya plugs into it.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363931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the low-cost tablets/desktops already present in OPDs — no new hardware.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251960" y="1353312"/>
            <a:ext cx="3520440" cy="2606040"/>
          </a:xfrm>
          <a:prstGeom prst="roundRect">
            <a:avLst>
              <a:gd name="adj" fmla="val 2105"/>
            </a:avLst>
          </a:prstGeom>
          <a:solidFill>
            <a:srgbClr val="F6F7F5"/>
          </a:solidFill>
          <a:ln/>
        </p:spPr>
      </p:sp>
      <p:sp>
        <p:nvSpPr>
          <p:cNvPr id="17" name="Shape 14"/>
          <p:cNvSpPr/>
          <p:nvPr/>
        </p:nvSpPr>
        <p:spPr>
          <a:xfrm>
            <a:off x="4480560" y="1572768"/>
            <a:ext cx="457200" cy="457200"/>
          </a:xfrm>
          <a:prstGeom prst="ellipse">
            <a:avLst/>
          </a:prstGeom>
          <a:solidFill>
            <a:srgbClr val="0E4B43"/>
          </a:solidFill>
          <a:ln/>
          <a:effectLst>
            <a:outerShdw sx="100000" sy="100000" kx="0" ky="0" algn="bl" rotWithShape="0" blurRad="76200" dist="25400" dir="5400000">
              <a:srgbClr val="1A2E2B">
                <a:alpha val="18000"/>
              </a:srgbClr>
            </a:outerShdw>
          </a:effectLst>
        </p:spPr>
      </p:sp>
      <p:pic>
        <p:nvPicPr>
          <p:cNvPr id="18" name="Image 1" descr="/home/claude/samanvaya/icons/trending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432" y="1691640"/>
            <a:ext cx="219456" cy="219456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5074920" y="162763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3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Economic Viability</a:t>
            </a:r>
            <a:endParaRPr lang="en-US" sz="1350" dirty="0"/>
          </a:p>
        </p:txBody>
      </p:sp>
      <p:sp>
        <p:nvSpPr>
          <p:cNvPr id="20" name="Text 16"/>
          <p:cNvSpPr txBox="1"/>
          <p:nvPr/>
        </p:nvSpPr>
        <p:spPr>
          <a:xfrm>
            <a:off x="4480560" y="221284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Software-only deployment — one platform per OPD desk, not per-patient hardware.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4480560" y="29260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components and pay-as-you-scale cloud keep cost proportional to patient volume.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4480560" y="363931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Generic-medicine savings via Jan Aushadhi add a direct, visible value story for patients.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8001000" y="1353312"/>
            <a:ext cx="3520440" cy="2606040"/>
          </a:xfrm>
          <a:prstGeom prst="roundRect">
            <a:avLst>
              <a:gd name="adj" fmla="val 2105"/>
            </a:avLst>
          </a:prstGeom>
          <a:solidFill>
            <a:srgbClr val="F6F7F5"/>
          </a:solidFill>
          <a:ln/>
        </p:spPr>
      </p:sp>
      <p:sp>
        <p:nvSpPr>
          <p:cNvPr id="24" name="Shape 20"/>
          <p:cNvSpPr/>
          <p:nvPr/>
        </p:nvSpPr>
        <p:spPr>
          <a:xfrm>
            <a:off x="8229600" y="1572768"/>
            <a:ext cx="457200" cy="457200"/>
          </a:xfrm>
          <a:prstGeom prst="ellipse">
            <a:avLst/>
          </a:prstGeom>
          <a:solidFill>
            <a:srgbClr val="0E4B43"/>
          </a:solidFill>
          <a:ln/>
          <a:effectLst>
            <a:outerShdw sx="100000" sy="100000" kx="0" ky="0" algn="bl" rotWithShape="0" blurRad="76200" dist="25400" dir="5400000">
              <a:srgbClr val="1A2E2B">
                <a:alpha val="18000"/>
              </a:srgbClr>
            </a:outerShdw>
          </a:effectLst>
        </p:spPr>
      </p:sp>
      <p:pic>
        <p:nvPicPr>
          <p:cNvPr id="25" name="Image 2" descr="/home/claude/samanvaya/icons/settin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8472" y="1691640"/>
            <a:ext cx="219456" cy="219456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8823960" y="162763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3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Viability</a:t>
            </a:r>
            <a:endParaRPr lang="en-US" sz="1350" dirty="0"/>
          </a:p>
        </p:txBody>
      </p:sp>
      <p:sp>
        <p:nvSpPr>
          <p:cNvPr id="27" name="Text 22"/>
          <p:cNvSpPr txBox="1"/>
          <p:nvPr/>
        </p:nvSpPr>
        <p:spPr>
          <a:xfrm>
            <a:off x="8229600" y="221284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ahead of the consultation, not inside it — intake happens in the waiting room.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8229600" y="29260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stays the final authority — every AI summary is a draft to accept, edit or reject.</a:t>
            </a:r>
            <a:endParaRPr lang="en-US" sz="1000" dirty="0"/>
          </a:p>
        </p:txBody>
      </p:sp>
      <p:sp>
        <p:nvSpPr>
          <p:cNvPr id="29" name="Text 24"/>
          <p:cNvSpPr txBox="1"/>
          <p:nvPr/>
        </p:nvSpPr>
        <p:spPr>
          <a:xfrm>
            <a:off x="8229600" y="363931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design keeps it usable where hospital connectivity is unreliable.</a:t>
            </a:r>
            <a:endParaRPr lang="en-US" sz="1000" dirty="0"/>
          </a:p>
        </p:txBody>
      </p:sp>
      <p:sp>
        <p:nvSpPr>
          <p:cNvPr id="30" name="Text 25"/>
          <p:cNvSpPr txBox="1"/>
          <p:nvPr/>
        </p:nvSpPr>
        <p:spPr>
          <a:xfrm>
            <a:off x="502920" y="4160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CHALLENGES &amp; HOW WE ADDRESS THEM</a:t>
            </a:r>
            <a:endParaRPr lang="en-US" sz="11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480560"/>
          <a:ext cx="11183112" cy="1737360"/>
        </p:xfrm>
        <a:graphic>
          <a:graphicData uri="http://schemas.openxmlformats.org/drawingml/2006/table">
            <a:tbl>
              <a:tblPr/>
              <a:tblGrid>
                <a:gridCol w="4023360"/>
                <a:gridCol w="715975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 Strategy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B4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digital literacy / elderly patients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B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 voice + touch input, audio-guided consent, zero-training icon-based UI.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Keeping medical &amp; scheme data current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B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Scheduled sync with ICMR / PMBJP / scheme sources — versioned, not hardcoded.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OCR accuracy on poor handwriting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B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Human-in-the-loop review — doctor edits and confirms before anything saves.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privacy &amp; consent at scale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B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DPDP Act-compliant flow; raw scans purged immediately after structuring.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AND BENEFITS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This Changes Things For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966960" y="32004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E4B4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66960" y="320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PANCHAJANYAM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170432"/>
            <a:ext cx="11183112" cy="0"/>
          </a:xfrm>
          <a:prstGeom prst="line">
            <a:avLst/>
          </a:prstGeom>
          <a:noFill/>
          <a:ln w="12700">
            <a:solidFill>
              <a:srgbClr val="DDE3E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Samanvaya  |  SIH26047  ·  Patient Case-Taking Software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52144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335024"/>
            <a:ext cx="11183112" cy="960120"/>
          </a:xfrm>
          <a:prstGeom prst="roundRect">
            <a:avLst>
              <a:gd name="adj" fmla="val 5714"/>
            </a:avLst>
          </a:prstGeom>
          <a:solidFill>
            <a:srgbClr val="0E4B4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1426464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2–5 MIN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1426464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average OPD consultation window — the time Samanvaya works to protect, not consume.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78040" y="1481328"/>
            <a:ext cx="0" cy="685800"/>
          </a:xfrm>
          <a:prstGeom prst="line">
            <a:avLst/>
          </a:prstGeom>
          <a:noFill/>
          <a:ln w="12700">
            <a:solidFill>
              <a:srgbClr val="2A5A5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60920" y="1426464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EC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Irving et al., BMJ Open (2017) — systematic review, 67 countries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2606040"/>
            <a:ext cx="502920" cy="502920"/>
          </a:xfrm>
          <a:prstGeom prst="ellipse">
            <a:avLst/>
          </a:prstGeom>
          <a:solidFill>
            <a:srgbClr val="0E4B43"/>
          </a:solidFill>
          <a:ln/>
          <a:effectLst>
            <a:outerShdw sx="100000" sy="100000" kx="0" ky="0" algn="bl" rotWithShape="0" blurRad="76200" dist="25400" dir="5400000">
              <a:srgbClr val="1A2E2B">
                <a:alpha val="18000"/>
              </a:srgbClr>
            </a:outerShdw>
          </a:effectLst>
        </p:spPr>
      </p:sp>
      <p:pic>
        <p:nvPicPr>
          <p:cNvPr id="15" name="Image 0" descr="/home/claude/samanvaya/icons/he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679" y="2736799"/>
            <a:ext cx="241402" cy="241402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161288" y="2651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Patients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324612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captured once — no repeating the same story at every visit.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502920" y="406908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in their own language, usable by low-literacy and elderly patients alike.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502920" y="489204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visibility into scheme eligibility and lower-cost generic alternatives.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251960" y="2606040"/>
            <a:ext cx="502920" cy="502920"/>
          </a:xfrm>
          <a:prstGeom prst="ellipse">
            <a:avLst/>
          </a:prstGeom>
          <a:solidFill>
            <a:srgbClr val="0E4B43"/>
          </a:solidFill>
          <a:ln/>
          <a:effectLst>
            <a:outerShdw sx="100000" sy="100000" kx="0" ky="0" algn="bl" rotWithShape="0" blurRad="76200" dist="25400" dir="5400000">
              <a:srgbClr val="1A2E2B">
                <a:alpha val="18000"/>
              </a:srgbClr>
            </a:outerShdw>
          </a:effectLst>
        </p:spPr>
      </p:sp>
      <p:pic>
        <p:nvPicPr>
          <p:cNvPr id="21" name="Image 1" descr="/home/claude/samanvaya/icons/user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2719" y="2736799"/>
            <a:ext cx="241402" cy="241402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4910328" y="2651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Doctors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4251960" y="324612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Walks in with the reading already done — not the recording of it.</a:t>
            </a:r>
            <a:endParaRPr lang="en-US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4251960" y="406908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AI-flagged red flags and drug interactions add a second layer of safety.</a:t>
            </a:r>
            <a:endParaRPr lang="en-US" sz="1050" dirty="0"/>
          </a:p>
        </p:txBody>
      </p:sp>
      <p:sp>
        <p:nvSpPr>
          <p:cNvPr id="25" name="Text 21"/>
          <p:cNvSpPr txBox="1"/>
          <p:nvPr/>
        </p:nvSpPr>
        <p:spPr>
          <a:xfrm>
            <a:off x="4251960" y="489204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Summaries are ABDM/FHIR-ready — no extra transcription step.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8001000" y="2606040"/>
            <a:ext cx="502920" cy="502920"/>
          </a:xfrm>
          <a:prstGeom prst="ellipse">
            <a:avLst/>
          </a:prstGeom>
          <a:solidFill>
            <a:srgbClr val="D98E04"/>
          </a:solidFill>
          <a:ln/>
          <a:effectLst>
            <a:outerShdw sx="100000" sy="100000" kx="0" ky="0" algn="bl" rotWithShape="0" blurRad="76200" dist="25400" dir="5400000">
              <a:srgbClr val="1A2E2B">
                <a:alpha val="18000"/>
              </a:srgbClr>
            </a:outerShdw>
          </a:effectLst>
        </p:spPr>
      </p:sp>
      <p:pic>
        <p:nvPicPr>
          <p:cNvPr id="27" name="Image 2" descr="/home/claude/samanvaya/icons/trendingu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1759" y="2736799"/>
            <a:ext cx="241402" cy="241402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8659368" y="2651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 Health System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8001000" y="324612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Digitizes the ABDM “first mile” that currently has no software solution.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8001000" y="406908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AYUSH-aware from day one — one platform for allopathic and Ayurvedic OPDs.</a:t>
            </a:r>
            <a:endParaRPr lang="en-US" sz="1050" dirty="0"/>
          </a:p>
        </p:txBody>
      </p:sp>
      <p:sp>
        <p:nvSpPr>
          <p:cNvPr id="31" name="Text 26"/>
          <p:cNvSpPr txBox="1"/>
          <p:nvPr/>
        </p:nvSpPr>
        <p:spPr>
          <a:xfrm>
            <a:off x="8001000" y="489204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Reclaims clinical time without adding headcount.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REFERENCES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Grounded This 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966960" y="32004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E4B4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66960" y="320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PANCHAJANYAM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170432"/>
            <a:ext cx="11183112" cy="0"/>
          </a:xfrm>
          <a:prstGeom prst="line">
            <a:avLst/>
          </a:prstGeom>
          <a:noFill/>
          <a:ln w="12700">
            <a:solidFill>
              <a:srgbClr val="DDE3E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Samanvaya  |  SIH26047  ·  Patient Case-Taking Software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52144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RESEARCH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1737360"/>
            <a:ext cx="384048" cy="384048"/>
          </a:xfrm>
          <a:prstGeom prst="ellipse">
            <a:avLst/>
          </a:prstGeom>
          <a:solidFill>
            <a:srgbClr val="0E4B43"/>
          </a:solidFill>
          <a:ln/>
          <a:effectLst>
            <a:outerShdw sx="100000" sy="100000" kx="0" ky="0" algn="bl" rotWithShape="0" blurRad="76200" dist="25400" dir="5400000">
              <a:srgbClr val="1A2E2B">
                <a:alpha val="18000"/>
              </a:srgbClr>
            </a:outerShdw>
          </a:effectLst>
        </p:spPr>
      </p:sp>
      <p:pic>
        <p:nvPicPr>
          <p:cNvPr id="11" name="Image 0" descr="/home/claude/samanvaya/icons/booko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772" y="1837212"/>
            <a:ext cx="184343" cy="184343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051560" y="16916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Irving G, et al. “International variations in primary care physician consultation time: a systematic review of 67 countries.”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1051560" y="21214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BMJ Open, 2017;7(10):e017902   •   doi.org/10.1136/bmjopen-2017-017902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02920" y="2651760"/>
            <a:ext cx="384048" cy="384048"/>
          </a:xfrm>
          <a:prstGeom prst="ellipse">
            <a:avLst/>
          </a:prstGeom>
          <a:solidFill>
            <a:srgbClr val="0E4B43"/>
          </a:solidFill>
          <a:ln/>
          <a:effectLst>
            <a:outerShdw sx="100000" sy="100000" kx="0" ky="0" algn="bl" rotWithShape="0" blurRad="76200" dist="25400" dir="5400000">
              <a:srgbClr val="1A2E2B">
                <a:alpha val="18000"/>
              </a:srgbClr>
            </a:outerShdw>
          </a:effectLst>
        </p:spPr>
      </p:sp>
      <p:pic>
        <p:nvPicPr>
          <p:cNvPr id="15" name="Image 1" descr="/home/claude/samanvaya/icons/bookop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772" y="2751612"/>
            <a:ext cx="184343" cy="184343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051560" y="26060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SIH26047 — “Patient Case-Taking Software”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1051560" y="30358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India Institute of Ayurveda, Ministry of Ayush   •   Smart India Hackathon 2026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502920" y="3703320"/>
            <a:ext cx="11183112" cy="0"/>
          </a:xfrm>
          <a:prstGeom prst="line">
            <a:avLst/>
          </a:prstGeom>
          <a:noFill/>
          <a:ln w="12700">
            <a:solidFill>
              <a:srgbClr val="DDE3E1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02920" y="3886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PLATFORMS &amp; STANDARDS WE BUILD ON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02920" y="4279392"/>
            <a:ext cx="365760" cy="365760"/>
          </a:xfrm>
          <a:prstGeom prst="ellipse">
            <a:avLst/>
          </a:prstGeom>
          <a:solidFill>
            <a:srgbClr val="D98E04"/>
          </a:solidFill>
          <a:ln/>
          <a:effectLst>
            <a:outerShdw sx="100000" sy="100000" kx="0" ky="0" algn="bl" rotWithShape="0" blurRad="76200" dist="25400" dir="5400000">
              <a:srgbClr val="1A2E2B">
                <a:alpha val="18000"/>
              </a:srgbClr>
            </a:outerShdw>
          </a:effectLst>
        </p:spPr>
      </p:sp>
      <p:pic>
        <p:nvPicPr>
          <p:cNvPr id="21" name="Image 2" descr="/home/claude/samanvaya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8" y="4374490"/>
            <a:ext cx="175565" cy="175565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005840" y="424281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Ayushman Bharat Digital Mission (ABDM)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502920" y="46634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digital health infrastructure — ABHA, Health Information Exchange, FHIR standards.</a:t>
            </a:r>
            <a:endParaRPr lang="en-US" sz="850" dirty="0"/>
          </a:p>
        </p:txBody>
      </p:sp>
      <p:sp>
        <p:nvSpPr>
          <p:cNvPr id="24" name="Text 19"/>
          <p:cNvSpPr txBox="1"/>
          <p:nvPr/>
        </p:nvSpPr>
        <p:spPr>
          <a:xfrm>
            <a:off x="502920" y="50292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abdm.gov.in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4251960" y="4279392"/>
            <a:ext cx="365760" cy="365760"/>
          </a:xfrm>
          <a:prstGeom prst="ellipse">
            <a:avLst/>
          </a:prstGeom>
          <a:solidFill>
            <a:srgbClr val="D98E04"/>
          </a:solidFill>
          <a:ln/>
          <a:effectLst>
            <a:outerShdw sx="100000" sy="100000" kx="0" ky="0" algn="bl" rotWithShape="0" blurRad="76200" dist="25400" dir="5400000">
              <a:srgbClr val="1A2E2B">
                <a:alpha val="18000"/>
              </a:srgbClr>
            </a:outerShdw>
          </a:effectLst>
        </p:spPr>
      </p:sp>
      <p:pic>
        <p:nvPicPr>
          <p:cNvPr id="26" name="Image 3" descr="/home/claude/samanvaya/icons/glob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7058" y="4374490"/>
            <a:ext cx="175565" cy="175565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4754880" y="424281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Bhashini — National Language Translation Mission</a:t>
            </a:r>
            <a:endParaRPr lang="en-US" sz="1050" dirty="0"/>
          </a:p>
        </p:txBody>
      </p:sp>
      <p:sp>
        <p:nvSpPr>
          <p:cNvPr id="28" name="Text 22"/>
          <p:cNvSpPr txBox="1"/>
          <p:nvPr/>
        </p:nvSpPr>
        <p:spPr>
          <a:xfrm>
            <a:off x="4251960" y="46634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voice &amp; translation APIs across 22 Indian languages.</a:t>
            </a:r>
            <a:endParaRPr lang="en-US" sz="850" dirty="0"/>
          </a:p>
        </p:txBody>
      </p:sp>
      <p:sp>
        <p:nvSpPr>
          <p:cNvPr id="29" name="Text 23"/>
          <p:cNvSpPr txBox="1"/>
          <p:nvPr/>
        </p:nvSpPr>
        <p:spPr>
          <a:xfrm>
            <a:off x="4251960" y="50292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bhashini.gov.in</a:t>
            </a:r>
            <a:endParaRPr lang="en-US" sz="850" dirty="0"/>
          </a:p>
        </p:txBody>
      </p:sp>
      <p:sp>
        <p:nvSpPr>
          <p:cNvPr id="30" name="Shape 24"/>
          <p:cNvSpPr/>
          <p:nvPr/>
        </p:nvSpPr>
        <p:spPr>
          <a:xfrm>
            <a:off x="8001000" y="4279392"/>
            <a:ext cx="365760" cy="365760"/>
          </a:xfrm>
          <a:prstGeom prst="ellipse">
            <a:avLst/>
          </a:prstGeom>
          <a:solidFill>
            <a:srgbClr val="D98E04"/>
          </a:solidFill>
          <a:ln/>
          <a:effectLst>
            <a:outerShdw sx="100000" sy="100000" kx="0" ky="0" algn="bl" rotWithShape="0" blurRad="76200" dist="25400" dir="5400000">
              <a:srgbClr val="1A2E2B">
                <a:alpha val="18000"/>
              </a:srgbClr>
            </a:outerShdw>
          </a:effectLst>
        </p:spPr>
      </p:sp>
      <p:pic>
        <p:nvPicPr>
          <p:cNvPr id="31" name="Image 4" descr="/home/claude/samanvaya/icons/checksquar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098" y="4374490"/>
            <a:ext cx="175565" cy="175565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8503920" y="424281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Personal Data Protection Act, 2023</a:t>
            </a:r>
            <a:endParaRPr lang="en-US" sz="1050" dirty="0"/>
          </a:p>
        </p:txBody>
      </p:sp>
      <p:sp>
        <p:nvSpPr>
          <p:cNvPr id="33" name="Text 26"/>
          <p:cNvSpPr txBox="1"/>
          <p:nvPr/>
        </p:nvSpPr>
        <p:spPr>
          <a:xfrm>
            <a:off x="8001000" y="46634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 basis for our consent and data-minimization design.</a:t>
            </a:r>
            <a:endParaRPr lang="en-US" sz="850" dirty="0"/>
          </a:p>
        </p:txBody>
      </p:sp>
      <p:sp>
        <p:nvSpPr>
          <p:cNvPr id="34" name="Text 27"/>
          <p:cNvSpPr txBox="1"/>
          <p:nvPr/>
        </p:nvSpPr>
        <p:spPr>
          <a:xfrm>
            <a:off x="8001000" y="50292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meity.gov.in</a:t>
            </a:r>
            <a:endParaRPr lang="en-US" sz="850" dirty="0"/>
          </a:p>
        </p:txBody>
      </p:sp>
      <p:sp>
        <p:nvSpPr>
          <p:cNvPr id="35" name="Shape 28"/>
          <p:cNvSpPr/>
          <p:nvPr/>
        </p:nvSpPr>
        <p:spPr>
          <a:xfrm>
            <a:off x="502920" y="5330952"/>
            <a:ext cx="365760" cy="365760"/>
          </a:xfrm>
          <a:prstGeom prst="ellipse">
            <a:avLst/>
          </a:prstGeom>
          <a:solidFill>
            <a:srgbClr val="D98E04"/>
          </a:solidFill>
          <a:ln/>
          <a:effectLst>
            <a:outerShdw sx="100000" sy="100000" kx="0" ky="0" algn="bl" rotWithShape="0" blurRad="76200" dist="25400" dir="5400000">
              <a:srgbClr val="1A2E2B">
                <a:alpha val="18000"/>
              </a:srgbClr>
            </a:outerShdw>
          </a:effectLst>
        </p:spPr>
      </p:sp>
      <p:pic>
        <p:nvPicPr>
          <p:cNvPr id="36" name="Image 5" descr="/home/claude/samanvaya/icons/activit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018" y="5426050"/>
            <a:ext cx="175565" cy="175565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005840" y="529437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ICMR Standard Treatment Workflows</a:t>
            </a:r>
            <a:endParaRPr lang="en-US" sz="1050" dirty="0"/>
          </a:p>
        </p:txBody>
      </p:sp>
      <p:sp>
        <p:nvSpPr>
          <p:cNvPr id="38" name="Text 30"/>
          <p:cNvSpPr txBox="1"/>
          <p:nvPr/>
        </p:nvSpPr>
        <p:spPr>
          <a:xfrm>
            <a:off x="502920" y="5715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clinical protocols behind the Medical Specialist Branch.</a:t>
            </a:r>
            <a:endParaRPr lang="en-US" sz="850" dirty="0"/>
          </a:p>
        </p:txBody>
      </p:sp>
      <p:sp>
        <p:nvSpPr>
          <p:cNvPr id="39" name="Text 31"/>
          <p:cNvSpPr txBox="1"/>
          <p:nvPr/>
        </p:nvSpPr>
        <p:spPr>
          <a:xfrm>
            <a:off x="502920" y="60807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icmr.gov.in</a:t>
            </a:r>
            <a:endParaRPr lang="en-US" sz="850" dirty="0"/>
          </a:p>
        </p:txBody>
      </p:sp>
      <p:sp>
        <p:nvSpPr>
          <p:cNvPr id="40" name="Shape 32"/>
          <p:cNvSpPr/>
          <p:nvPr/>
        </p:nvSpPr>
        <p:spPr>
          <a:xfrm>
            <a:off x="4251960" y="5330952"/>
            <a:ext cx="365760" cy="365760"/>
          </a:xfrm>
          <a:prstGeom prst="ellipse">
            <a:avLst/>
          </a:prstGeom>
          <a:solidFill>
            <a:srgbClr val="D98E04"/>
          </a:solidFill>
          <a:ln/>
          <a:effectLst>
            <a:outerShdw sx="100000" sy="100000" kx="0" ky="0" algn="bl" rotWithShape="0" blurRad="76200" dist="25400" dir="5400000">
              <a:srgbClr val="1A2E2B">
                <a:alpha val="18000"/>
              </a:srgbClr>
            </a:outerShdw>
          </a:effectLst>
        </p:spPr>
      </p:sp>
      <p:pic>
        <p:nvPicPr>
          <p:cNvPr id="41" name="Image 6" descr="/home/claude/samanvaya/icons/percen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7058" y="5426050"/>
            <a:ext cx="175565" cy="175565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4754880" y="529437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PM-JAY (Ayushman Bharat)</a:t>
            </a:r>
            <a:endParaRPr lang="en-US" sz="1050" dirty="0"/>
          </a:p>
        </p:txBody>
      </p:sp>
      <p:sp>
        <p:nvSpPr>
          <p:cNvPr id="43" name="Text 34"/>
          <p:cNvSpPr txBox="1"/>
          <p:nvPr/>
        </p:nvSpPr>
        <p:spPr>
          <a:xfrm>
            <a:off x="4251960" y="5715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health-cover scheme checked by the eligibility navigator.</a:t>
            </a:r>
            <a:endParaRPr lang="en-US" sz="850" dirty="0"/>
          </a:p>
        </p:txBody>
      </p:sp>
      <p:sp>
        <p:nvSpPr>
          <p:cNvPr id="44" name="Text 35"/>
          <p:cNvSpPr txBox="1"/>
          <p:nvPr/>
        </p:nvSpPr>
        <p:spPr>
          <a:xfrm>
            <a:off x="4251960" y="60807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pmjay.gov.in</a:t>
            </a:r>
            <a:endParaRPr lang="en-US" sz="850" dirty="0"/>
          </a:p>
        </p:txBody>
      </p:sp>
      <p:sp>
        <p:nvSpPr>
          <p:cNvPr id="45" name="Shape 36"/>
          <p:cNvSpPr/>
          <p:nvPr/>
        </p:nvSpPr>
        <p:spPr>
          <a:xfrm>
            <a:off x="8001000" y="5330952"/>
            <a:ext cx="365760" cy="365760"/>
          </a:xfrm>
          <a:prstGeom prst="ellipse">
            <a:avLst/>
          </a:prstGeom>
          <a:solidFill>
            <a:srgbClr val="D98E04"/>
          </a:solidFill>
          <a:ln/>
          <a:effectLst>
            <a:outerShdw sx="100000" sy="100000" kx="0" ky="0" algn="bl" rotWithShape="0" blurRad="76200" dist="25400" dir="5400000">
              <a:srgbClr val="1A2E2B">
                <a:alpha val="18000"/>
              </a:srgbClr>
            </a:outerShdw>
          </a:effectLst>
        </p:spPr>
      </p:sp>
      <p:pic>
        <p:nvPicPr>
          <p:cNvPr id="46" name="Image 7" descr="/home/claude/samanvaya/icons/hear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098" y="5426050"/>
            <a:ext cx="175565" cy="175565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8503920" y="529437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PMBJP — Jan Aushadhi</a:t>
            </a:r>
            <a:endParaRPr lang="en-US" sz="1050" dirty="0"/>
          </a:p>
        </p:txBody>
      </p:sp>
      <p:sp>
        <p:nvSpPr>
          <p:cNvPr id="48" name="Text 38"/>
          <p:cNvSpPr txBox="1"/>
          <p:nvPr/>
        </p:nvSpPr>
        <p:spPr>
          <a:xfrm>
            <a:off x="8001000" y="5715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Generic-medicine pricing behind the cost-savings comparison.</a:t>
            </a:r>
            <a:endParaRPr lang="en-US" sz="850" dirty="0"/>
          </a:p>
        </p:txBody>
      </p:sp>
      <p:sp>
        <p:nvSpPr>
          <p:cNvPr id="49" name="Text 39"/>
          <p:cNvSpPr txBox="1"/>
          <p:nvPr/>
        </p:nvSpPr>
        <p:spPr>
          <a:xfrm>
            <a:off x="8001000" y="60807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janaushadhi.gov.in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Team Panchajanyam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Samanvaya — Capture. Connect. Cure.</dc:title>
  <dc:subject>SIH 2026 Idea Submission — SIH26047 Patient Case-Taking Software</dc:subject>
  <dc:creator>Sricharan</dc:creator>
  <cp:lastModifiedBy>Sricharan</cp:lastModifiedBy>
  <cp:revision>1</cp:revision>
  <dcterms:created xsi:type="dcterms:W3CDTF">2026-09-08T06:41:49Z</dcterms:created>
  <dcterms:modified xsi:type="dcterms:W3CDTF">2026-09-08T06:41:49Z</dcterms:modified>
</cp:coreProperties>
</file>